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67" r:id="rId6"/>
    <p:sldId id="259" r:id="rId7"/>
    <p:sldId id="268" r:id="rId8"/>
    <p:sldId id="260" r:id="rId9"/>
    <p:sldId id="269" r:id="rId10"/>
    <p:sldId id="261" r:id="rId11"/>
    <p:sldId id="270" r:id="rId12"/>
    <p:sldId id="262" r:id="rId13"/>
    <p:sldId id="271" r:id="rId14"/>
    <p:sldId id="272" r:id="rId15"/>
    <p:sldId id="273" r:id="rId16"/>
    <p:sldId id="274" r:id="rId17"/>
    <p:sldId id="275" r:id="rId18"/>
    <p:sldId id="263" r:id="rId19"/>
    <p:sldId id="264" r:id="rId20"/>
    <p:sldId id="26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7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60400"/>
            <a:ext cx="7772400" cy="1470025"/>
          </a:xfrm>
        </p:spPr>
        <p:txBody>
          <a:bodyPr/>
          <a:lstStyle/>
          <a:p>
            <a:r>
              <a:rPr dirty="0"/>
              <a:t>Happiness Dashboard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4353" y="2227729"/>
            <a:ext cx="6400800" cy="175260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IBM Plex Mono Medium" panose="020B0609050203000203" pitchFamily="49" charset="0"/>
              </a:rPr>
              <a:t>Yevgeniy </a:t>
            </a:r>
            <a:r>
              <a:rPr lang="en-US" b="1" dirty="0" err="1">
                <a:solidFill>
                  <a:schemeClr val="tx1"/>
                </a:solidFill>
                <a:latin typeface="IBM Plex Mono Medium" panose="020B0609050203000203" pitchFamily="49" charset="0"/>
              </a:rPr>
              <a:t>Mihdal</a:t>
            </a:r>
            <a:endParaRPr lang="en-US" b="1" dirty="0">
              <a:solidFill>
                <a:schemeClr val="tx1"/>
              </a:solidFill>
              <a:latin typeface="IBM Plex Mono Medium" panose="020B0609050203000203" pitchFamily="49" charset="0"/>
            </a:endParaRPr>
          </a:p>
          <a:p>
            <a:r>
              <a:rPr dirty="0"/>
              <a:t>Date: 28.02.2026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 Identify key factors influencing Happiness Score</a:t>
            </a:r>
          </a:p>
          <a:p>
            <a:pPr marL="457200" lvl="1" indent="0">
              <a:buNone/>
            </a:pPr>
            <a:r>
              <a:rPr dirty="0"/>
              <a:t>• Compare regions by happiness levels</a:t>
            </a:r>
          </a:p>
          <a:p>
            <a:pPr marL="457200" lvl="1" indent="0">
              <a:buNone/>
            </a:pPr>
            <a:r>
              <a:rPr dirty="0"/>
              <a:t>• Analyze impact of GDP, freedom, healthcare, generosity</a:t>
            </a:r>
          </a:p>
          <a:p>
            <a:pPr marL="457200" lvl="1" indent="0">
              <a:buNone/>
            </a:pPr>
            <a:r>
              <a:rPr dirty="0"/>
              <a:t>• Highlight Top 10 happiest countries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7065FF-94B0-449E-B2C4-9FCB70304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Overview of Happiness</a:t>
            </a:r>
            <a:endParaRPr lang="ru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72C094-418B-43B2-8903-8CF966666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94" y="1164812"/>
            <a:ext cx="8145012" cy="515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006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Global Overview of Happiness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Highest scores: Western Europe, Australia &amp; New Zealand, North America</a:t>
            </a:r>
          </a:p>
          <a:p>
            <a:pPr marL="457200" lvl="1" indent="0">
              <a:buNone/>
            </a:pPr>
            <a:r>
              <a:rPr dirty="0"/>
              <a:t>• Lowest scores: Sub-Saharan Africa, Southern Asia</a:t>
            </a:r>
          </a:p>
          <a:p>
            <a:pPr marL="457200" lvl="1" indent="0">
              <a:buNone/>
            </a:pPr>
            <a:r>
              <a:rPr dirty="0"/>
              <a:t>• Significant regional inequality observed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FC9686-BB1B-4E70-A8ED-620ABE554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GDP per capita</a:t>
            </a:r>
            <a:endParaRPr lang="ru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6F2B332-FA5B-46D7-84C0-1236C9BE8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15" y="1228165"/>
            <a:ext cx="7659169" cy="5011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135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of GDP per Capita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 Strong positive correlation with Happiness Score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• Higher GDP → Higher average happiness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• Diminishing returns effect at very high </a:t>
            </a:r>
            <a:r>
              <a:rPr lang="en-US" dirty="0"/>
              <a:t>	 		</a:t>
            </a:r>
            <a:r>
              <a:rPr dirty="0"/>
              <a:t>income levels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761D45-E79A-4DD9-87F1-1D5F10052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Happiness and Freedom</a:t>
            </a:r>
            <a:endParaRPr lang="ru-UA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91BBE0C-8E62-4720-9681-2F1BEA62E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7331"/>
            <a:ext cx="8229600" cy="478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482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of Freedom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 Strong positive relationship across regions</a:t>
            </a:r>
          </a:p>
          <a:p>
            <a:pPr marL="457200" lvl="1" indent="0">
              <a:buNone/>
            </a:pPr>
            <a:r>
              <a:rPr dirty="0"/>
              <a:t>• Regions with high freedom show consistently high happiness</a:t>
            </a:r>
          </a:p>
          <a:p>
            <a:pPr marL="457200" lvl="1" indent="0">
              <a:buNone/>
            </a:pPr>
            <a:r>
              <a:rPr dirty="0"/>
              <a:t>• Freedom is a critical non-economic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1A4A15-2B8F-48F5-B5C5-060E33336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Happiness and Healthcare</a:t>
            </a:r>
            <a:endParaRPr lang="ru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0387DE4-FDEB-48D6-88D6-715F7960B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638"/>
            <a:ext cx="8164064" cy="487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750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Impact of Healthcare &amp; Life Expectancy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Positive correlation between healthcare level and happiness</a:t>
            </a:r>
          </a:p>
          <a:p>
            <a:r>
              <a:rPr lang="en-US" sz="2600" dirty="0"/>
              <a:t>Regions with stronger healthcare systems tend to demonstrate higher life satisfaction.</a:t>
            </a:r>
            <a:endParaRPr lang="uk-UA" sz="2600" dirty="0"/>
          </a:p>
          <a:p>
            <a:r>
              <a:rPr lang="en-US" sz="2600" dirty="0"/>
              <a:t>However, healthcare is </a:t>
            </a:r>
            <a:r>
              <a:rPr lang="en-US" sz="2600" b="1" dirty="0"/>
              <a:t>not the only determinant</a:t>
            </a:r>
            <a:r>
              <a:rPr lang="en-US" sz="2600" dirty="0"/>
              <a:t> — economic stability, freedom, trust, and social support also contribute significantly</a:t>
            </a:r>
            <a:r>
              <a:rPr lang="en-US" dirty="0"/>
              <a:t>.</a:t>
            </a:r>
            <a:endParaRPr lang="uk-UA" dirty="0"/>
          </a:p>
          <a:p>
            <a:r>
              <a:rPr sz="2600" dirty="0"/>
              <a:t>Health security supports life satisfaction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F4FAB42-8B43-40F5-9EC0-791B76A5F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8" y="815788"/>
            <a:ext cx="8192643" cy="502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277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Top 10 Countries by Happiness Score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EB4C4499-AAFB-4024-8C13-C89C540D9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The difference between rank 1 and rank 10 is only 0.235 points, suggesting that the leading countries operate at a similarly high level of life satisfaction.</a:t>
            </a:r>
            <a:endParaRPr lang="uk-UA" sz="2400" dirty="0"/>
          </a:p>
          <a:p>
            <a:r>
              <a:rPr lang="en-US" sz="2400" dirty="0"/>
              <a:t>Most top-performing countries belong to Northern and Western Europe, indicating strong regional patterns.</a:t>
            </a:r>
            <a:endParaRPr lang="uk-UA" sz="2400" dirty="0"/>
          </a:p>
          <a:p>
            <a:r>
              <a:rPr lang="en-US" sz="2400" dirty="0"/>
              <a:t>Common characteristics among these countries typically include:</a:t>
            </a:r>
            <a:endParaRPr lang="uk-UA" sz="2400" dirty="0"/>
          </a:p>
          <a:p>
            <a:pPr lvl="1"/>
            <a:r>
              <a:rPr lang="en-US" sz="2400" dirty="0"/>
              <a:t>High-quality healthcare</a:t>
            </a:r>
            <a:endParaRPr lang="uk-UA" sz="2400" dirty="0"/>
          </a:p>
          <a:p>
            <a:pPr lvl="1"/>
            <a:r>
              <a:rPr lang="en-US" sz="2400" dirty="0"/>
              <a:t>Strong social support systems</a:t>
            </a:r>
            <a:endParaRPr lang="uk-UA" sz="2400" dirty="0"/>
          </a:p>
          <a:p>
            <a:pPr lvl="1"/>
            <a:r>
              <a:rPr lang="en-US" sz="2400" dirty="0"/>
              <a:t>Economic stability</a:t>
            </a:r>
            <a:endParaRPr lang="uk-UA" sz="2400" dirty="0"/>
          </a:p>
          <a:p>
            <a:pPr lvl="1"/>
            <a:r>
              <a:rPr lang="en-US" sz="2400" dirty="0"/>
              <a:t>High levels of trust and freedom</a:t>
            </a:r>
            <a:endParaRPr lang="ru-UA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E18868-1742-4EAA-84D5-E07D47ABA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88" y="770965"/>
            <a:ext cx="8283387" cy="508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88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CAE43B-14BE-4FEB-9E01-8B76BC878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Happiness Score vs GDP per Capita by Region</a:t>
            </a:r>
            <a:endParaRPr lang="ru-UA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4EB8CE-7534-40BF-91A8-FE2686A1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chart suggests a moderate to strong positive correlation between GDP per capita and happiness.</a:t>
            </a:r>
            <a:endParaRPr lang="uk-UA" sz="2400" dirty="0"/>
          </a:p>
          <a:p>
            <a:r>
              <a:rPr lang="en-US" sz="2400" dirty="0"/>
              <a:t>However, the relationship is not perfectly linear — after a certain income level, increases in GDP result in smaller gains in happiness (possible diminishing returns effect).</a:t>
            </a:r>
            <a:endParaRPr lang="uk-UA" sz="2400" dirty="0"/>
          </a:p>
          <a:p>
            <a:r>
              <a:rPr lang="en-US" sz="2400" dirty="0"/>
              <a:t>Regional clustering indicates that structural and institutional factors influence both income and life satisfaction.</a:t>
            </a:r>
            <a:endParaRPr lang="uk-UA" sz="2400" dirty="0"/>
          </a:p>
          <a:p>
            <a:pPr marL="0" indent="0">
              <a:buNone/>
            </a:pPr>
            <a:r>
              <a:rPr lang="en-US" sz="2400" b="1" dirty="0"/>
              <a:t>Business Insight</a:t>
            </a:r>
          </a:p>
          <a:p>
            <a:r>
              <a:rPr lang="en-US" sz="2000" dirty="0"/>
              <a:t>Economic growth contributes significantly to national well-being, but beyond a certain threshold, </a:t>
            </a:r>
            <a:r>
              <a:rPr lang="en-US" sz="2000" b="1" dirty="0"/>
              <a:t>institutional quality, healthcare, freedom, and social trust become stronger differentiators of happiness</a:t>
            </a:r>
            <a:r>
              <a:rPr lang="en-US" sz="2000" dirty="0"/>
              <a:t> than income alone.</a:t>
            </a:r>
          </a:p>
          <a:p>
            <a:pPr lvl="1"/>
            <a:endParaRPr lang="ru-UA" sz="2000" dirty="0"/>
          </a:p>
        </p:txBody>
      </p:sp>
    </p:spTree>
    <p:extLst>
      <p:ext uri="{BB962C8B-B14F-4D97-AF65-F5344CB8AC3E}">
        <p14:creationId xmlns:p14="http://schemas.microsoft.com/office/powerpoint/2010/main" val="1385051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B5C8165-2D6C-48DE-B5A3-B59D2D6E2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20" y="609601"/>
            <a:ext cx="8285356" cy="552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265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2EAF0B-2127-4C84-BD5E-B4120C745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Family by Freedom</a:t>
            </a:r>
            <a:endParaRPr lang="ru-UA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4C1666-B848-425A-8C62-0097F87F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chart provides a regional breakdown comparing the number of families against recorded freedom levels. At first glance, there is a clear visual relationship: regions with a higher population of families generally report higher aggregate freedom scores.</a:t>
            </a:r>
            <a:endParaRPr lang="ru-RU" sz="2400" dirty="0"/>
          </a:p>
          <a:p>
            <a:r>
              <a:rPr lang="en-US" sz="2400" dirty="0"/>
              <a:t>The chart suggests a </a:t>
            </a:r>
            <a:r>
              <a:rPr lang="en-US" sz="2400" b="1" dirty="0"/>
              <a:t>positive correlation</a:t>
            </a:r>
            <a:r>
              <a:rPr lang="en-US" sz="2400" dirty="0"/>
              <a:t>: as the demographic size (families) increases, the total freedom metric tends to rise. However, regions like </a:t>
            </a:r>
            <a:r>
              <a:rPr lang="en-US" sz="2400" b="1" dirty="0"/>
              <a:t>Western Europe</a:t>
            </a:r>
            <a:r>
              <a:rPr lang="en-US" sz="2400" dirty="0"/>
              <a:t> and </a:t>
            </a:r>
            <a:r>
              <a:rPr lang="en-US" sz="2400" b="1" dirty="0"/>
              <a:t>Sub-Saharan Africa</a:t>
            </a:r>
            <a:r>
              <a:rPr lang="en-US" sz="2400" dirty="0"/>
              <a:t> show a higher "Freedom-to-Family" ratio compared to </a:t>
            </a:r>
            <a:r>
              <a:rPr lang="en-US" sz="2400" b="1" dirty="0"/>
              <a:t>Central and Eastern Europe</a:t>
            </a:r>
            <a:r>
              <a:rPr lang="en-US" sz="2400" dirty="0"/>
              <a:t>, where the gap between the two bars is much wider.</a:t>
            </a:r>
            <a:endParaRPr lang="ru-UA" sz="2400" dirty="0"/>
          </a:p>
        </p:txBody>
      </p:sp>
    </p:spTree>
    <p:extLst>
      <p:ext uri="{BB962C8B-B14F-4D97-AF65-F5344CB8AC3E}">
        <p14:creationId xmlns:p14="http://schemas.microsoft.com/office/powerpoint/2010/main" val="1707997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38413CC-A6C5-4E92-8971-8CC1099C0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18" y="448234"/>
            <a:ext cx="8184776" cy="519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352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Generosity &amp; Life Satisfaction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Weak to moderate positive correlation</a:t>
            </a:r>
          </a:p>
          <a:p>
            <a:pPr lvl="1"/>
            <a:r>
              <a:rPr lang="en-US" sz="2400" dirty="0"/>
              <a:t>The analysis indicates a </a:t>
            </a:r>
            <a:r>
              <a:rPr lang="en-US" sz="2400" b="1" dirty="0"/>
              <a:t>weak to moderate positive correlation</a:t>
            </a:r>
            <a:r>
              <a:rPr lang="en-US" sz="2400" dirty="0"/>
              <a:t> between the examined variable and overall happiness levels. This suggests that while the factor contributes to life satisfaction, its impact is not dominant and varies across countries.</a:t>
            </a:r>
            <a:endParaRPr lang="ru-RU" sz="2400" dirty="0"/>
          </a:p>
          <a:p>
            <a:pPr lvl="1"/>
            <a:r>
              <a:rPr lang="en-US" sz="2400" dirty="0"/>
              <a:t>The findings suggest that while the factor contributes positively to happiness, its effect is conditional. It becomes more meaningful in stable, high-development contexts and operates alongside stronger macro-level determinants such as income and institutional quality.</a:t>
            </a:r>
            <a:endParaRPr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GDP is a primary driver of happiness</a:t>
            </a:r>
            <a:endParaRPr lang="ru-RU" dirty="0"/>
          </a:p>
          <a:p>
            <a:r>
              <a:rPr dirty="0"/>
              <a:t>Freedom significantly increases life satisfaction</a:t>
            </a:r>
            <a:endParaRPr lang="ru-RU" dirty="0"/>
          </a:p>
          <a:p>
            <a:r>
              <a:rPr dirty="0"/>
              <a:t>Healthcare is a foundational factor</a:t>
            </a:r>
            <a:endParaRPr lang="ru-RU" dirty="0"/>
          </a:p>
          <a:p>
            <a:r>
              <a:rPr dirty="0"/>
              <a:t>Social support enhances overall well-being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Invest in economic development</a:t>
            </a:r>
          </a:p>
          <a:p>
            <a:pPr marL="457200" lvl="1" indent="0">
              <a:buNone/>
            </a:pPr>
            <a:r>
              <a:rPr dirty="0"/>
              <a:t>• Strengthen healthcare systems</a:t>
            </a:r>
          </a:p>
          <a:p>
            <a:pPr marL="457200" lvl="1" indent="0">
              <a:buNone/>
            </a:pPr>
            <a:r>
              <a:rPr dirty="0"/>
              <a:t>• Promote civil liberties and transparency</a:t>
            </a:r>
          </a:p>
          <a:p>
            <a:pPr marL="457200" lvl="1" indent="0">
              <a:buNone/>
            </a:pPr>
            <a:r>
              <a:rPr dirty="0"/>
              <a:t>• Support social and family structures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606</Words>
  <Application>Microsoft Office PowerPoint</Application>
  <PresentationFormat>Экран (4:3)</PresentationFormat>
  <Paragraphs>60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Calibri</vt:lpstr>
      <vt:lpstr>IBM Plex Mono Medium</vt:lpstr>
      <vt:lpstr>Office Theme</vt:lpstr>
      <vt:lpstr>Happiness Dashboard Analysis</vt:lpstr>
      <vt:lpstr>Analysis Objectives</vt:lpstr>
      <vt:lpstr>Global Overview of Happiness</vt:lpstr>
      <vt:lpstr>Global Overview of Happiness</vt:lpstr>
      <vt:lpstr>GDP per capita</vt:lpstr>
      <vt:lpstr>Impact of GDP per Capita</vt:lpstr>
      <vt:lpstr>Happiness and Freedom</vt:lpstr>
      <vt:lpstr>Impact of Freedom</vt:lpstr>
      <vt:lpstr>Happiness and Healthcare</vt:lpstr>
      <vt:lpstr>Impact of Healthcare &amp; Life Expectancy</vt:lpstr>
      <vt:lpstr>Презентация PowerPoint</vt:lpstr>
      <vt:lpstr>Top 10 Countries by Happiness Score</vt:lpstr>
      <vt:lpstr>Презентация PowerPoint</vt:lpstr>
      <vt:lpstr>Happiness Score vs GDP per Capita by Region</vt:lpstr>
      <vt:lpstr>Презентация PowerPoint</vt:lpstr>
      <vt:lpstr>Family by Freedom</vt:lpstr>
      <vt:lpstr>Презентация PowerPoint</vt:lpstr>
      <vt:lpstr>Generosity &amp; Life Satisfaction</vt:lpstr>
      <vt:lpstr>Key Insights</vt:lpstr>
      <vt:lpstr>Strategic Recommendations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Happiness Dashboard Analysis</dc:title>
  <dc:subject/>
  <dc:creator/>
  <cp:keywords/>
  <dc:description>generated using python-pptx</dc:description>
  <cp:lastModifiedBy>Юлия Мигдаль</cp:lastModifiedBy>
  <cp:revision>22</cp:revision>
  <dcterms:created xsi:type="dcterms:W3CDTF">2013-01-27T09:14:16Z</dcterms:created>
  <dcterms:modified xsi:type="dcterms:W3CDTF">2026-03-03T17:26:31Z</dcterms:modified>
  <cp:category/>
</cp:coreProperties>
</file>