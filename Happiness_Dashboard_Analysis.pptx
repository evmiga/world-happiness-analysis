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6" r:id="rId4"/>
    <p:sldId id="258" r:id="rId5"/>
    <p:sldId id="267" r:id="rId6"/>
    <p:sldId id="259" r:id="rId7"/>
    <p:sldId id="268" r:id="rId8"/>
    <p:sldId id="260" r:id="rId9"/>
    <p:sldId id="269" r:id="rId10"/>
    <p:sldId id="261" r:id="rId11"/>
    <p:sldId id="270" r:id="rId12"/>
    <p:sldId id="262" r:id="rId13"/>
    <p:sldId id="271" r:id="rId14"/>
    <p:sldId id="272" r:id="rId15"/>
    <p:sldId id="273" r:id="rId16"/>
    <p:sldId id="274" r:id="rId17"/>
    <p:sldId id="275" r:id="rId18"/>
    <p:sldId id="263" r:id="rId19"/>
    <p:sldId id="264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4D32D3-E9EA-4575-ACB5-0BAADB0667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UA"/>
        </a:p>
      </dgm:t>
    </dgm:pt>
    <dgm:pt modelId="{4429606E-E6E2-4948-BED8-C7A298156C53}">
      <dgm:prSet/>
      <dgm:spPr/>
      <dgm:t>
        <a:bodyPr/>
        <a:lstStyle/>
        <a:p>
          <a:r>
            <a:rPr lang="ru-UA" b="0" i="0"/>
            <a:t>Positive correlation between healthcare level and happiness</a:t>
          </a:r>
          <a:endParaRPr lang="ru-UA"/>
        </a:p>
      </dgm:t>
    </dgm:pt>
    <dgm:pt modelId="{89CB7ED4-7BCB-44EA-B518-8EDA56198A9B}" type="parTrans" cxnId="{F9B9E1BC-4F3C-4C2A-8C31-EF15354D4BA3}">
      <dgm:prSet/>
      <dgm:spPr/>
      <dgm:t>
        <a:bodyPr/>
        <a:lstStyle/>
        <a:p>
          <a:endParaRPr lang="ru-UA"/>
        </a:p>
      </dgm:t>
    </dgm:pt>
    <dgm:pt modelId="{CC982394-2EAB-4F66-862A-98CB8A0F52CC}" type="sibTrans" cxnId="{F9B9E1BC-4F3C-4C2A-8C31-EF15354D4BA3}">
      <dgm:prSet/>
      <dgm:spPr/>
      <dgm:t>
        <a:bodyPr/>
        <a:lstStyle/>
        <a:p>
          <a:endParaRPr lang="ru-UA"/>
        </a:p>
      </dgm:t>
    </dgm:pt>
    <dgm:pt modelId="{222AE1FC-0039-419A-936F-40FAF02E3F4C}">
      <dgm:prSet/>
      <dgm:spPr/>
      <dgm:t>
        <a:bodyPr/>
        <a:lstStyle/>
        <a:p>
          <a:r>
            <a:rPr lang="en-US" b="0" i="0" dirty="0"/>
            <a:t>Regions with stronger healthcare systems tend to demonstrate higher life satisfaction.</a:t>
          </a:r>
          <a:endParaRPr lang="ru-UA" dirty="0"/>
        </a:p>
      </dgm:t>
    </dgm:pt>
    <dgm:pt modelId="{D60B2FD6-1E10-4607-A659-92AB8440EC84}" type="parTrans" cxnId="{B8FF343F-7C15-4C8E-BAAE-D3FDD62C1E9C}">
      <dgm:prSet/>
      <dgm:spPr/>
      <dgm:t>
        <a:bodyPr/>
        <a:lstStyle/>
        <a:p>
          <a:endParaRPr lang="ru-UA"/>
        </a:p>
      </dgm:t>
    </dgm:pt>
    <dgm:pt modelId="{270D925E-8A36-4BEC-8E62-C29B78B091FC}" type="sibTrans" cxnId="{B8FF343F-7C15-4C8E-BAAE-D3FDD62C1E9C}">
      <dgm:prSet/>
      <dgm:spPr/>
      <dgm:t>
        <a:bodyPr/>
        <a:lstStyle/>
        <a:p>
          <a:endParaRPr lang="ru-UA"/>
        </a:p>
      </dgm:t>
    </dgm:pt>
    <dgm:pt modelId="{6E757509-B65F-4BA5-B5DA-5823589E16EE}">
      <dgm:prSet/>
      <dgm:spPr/>
      <dgm:t>
        <a:bodyPr/>
        <a:lstStyle/>
        <a:p>
          <a:r>
            <a:rPr lang="en-US" b="0" i="0" dirty="0"/>
            <a:t>However, healthcare is </a:t>
          </a:r>
          <a:r>
            <a:rPr lang="en-US" b="1" i="0" dirty="0"/>
            <a:t>not the only determinant</a:t>
          </a:r>
          <a:r>
            <a:rPr lang="en-US" b="0" i="0" dirty="0"/>
            <a:t> — economic stability, freedom, trust, and social support also contribute significantly.</a:t>
          </a:r>
          <a:endParaRPr lang="ru-UA" dirty="0"/>
        </a:p>
      </dgm:t>
    </dgm:pt>
    <dgm:pt modelId="{B581F6D9-90F6-47B4-870C-6506A0769C49}" type="parTrans" cxnId="{D1B54593-DE8B-4784-898C-CC6230E65CE2}">
      <dgm:prSet/>
      <dgm:spPr/>
      <dgm:t>
        <a:bodyPr/>
        <a:lstStyle/>
        <a:p>
          <a:endParaRPr lang="ru-UA"/>
        </a:p>
      </dgm:t>
    </dgm:pt>
    <dgm:pt modelId="{5CB6B2B6-7A1F-47E4-9263-225BADA873A9}" type="sibTrans" cxnId="{D1B54593-DE8B-4784-898C-CC6230E65CE2}">
      <dgm:prSet/>
      <dgm:spPr/>
      <dgm:t>
        <a:bodyPr/>
        <a:lstStyle/>
        <a:p>
          <a:endParaRPr lang="ru-UA"/>
        </a:p>
      </dgm:t>
    </dgm:pt>
    <dgm:pt modelId="{6F301516-8320-45CA-90E8-A33ABE12F2E1}">
      <dgm:prSet/>
      <dgm:spPr/>
      <dgm:t>
        <a:bodyPr/>
        <a:lstStyle/>
        <a:p>
          <a:r>
            <a:rPr lang="ru-UA" b="0" i="0" dirty="0"/>
            <a:t>Health </a:t>
          </a:r>
          <a:r>
            <a:rPr lang="ru-UA" b="0" i="0" dirty="0" err="1"/>
            <a:t>security</a:t>
          </a:r>
          <a:r>
            <a:rPr lang="ru-UA" b="0" i="0" dirty="0"/>
            <a:t> </a:t>
          </a:r>
          <a:r>
            <a:rPr lang="ru-UA" b="0" i="0" dirty="0" err="1"/>
            <a:t>supports</a:t>
          </a:r>
          <a:r>
            <a:rPr lang="ru-UA" b="0" i="0" dirty="0"/>
            <a:t> </a:t>
          </a:r>
          <a:r>
            <a:rPr lang="ru-UA" b="0" i="0" dirty="0" err="1"/>
            <a:t>life</a:t>
          </a:r>
          <a:r>
            <a:rPr lang="ru-UA" b="0" i="0" dirty="0"/>
            <a:t> </a:t>
          </a:r>
          <a:r>
            <a:rPr lang="ru-UA" b="0" i="0" dirty="0" err="1"/>
            <a:t>satisfaction</a:t>
          </a:r>
          <a:endParaRPr lang="ru-UA" dirty="0"/>
        </a:p>
      </dgm:t>
    </dgm:pt>
    <dgm:pt modelId="{7A5D3251-F81D-4B80-962A-B7BB3776E61D}" type="parTrans" cxnId="{8AF9D5C7-A737-4C35-A05D-BCC443F8E956}">
      <dgm:prSet/>
      <dgm:spPr/>
      <dgm:t>
        <a:bodyPr/>
        <a:lstStyle/>
        <a:p>
          <a:endParaRPr lang="ru-UA"/>
        </a:p>
      </dgm:t>
    </dgm:pt>
    <dgm:pt modelId="{77C1489C-F4FD-4200-8942-059CCF41B48A}" type="sibTrans" cxnId="{8AF9D5C7-A737-4C35-A05D-BCC443F8E956}">
      <dgm:prSet/>
      <dgm:spPr/>
      <dgm:t>
        <a:bodyPr/>
        <a:lstStyle/>
        <a:p>
          <a:endParaRPr lang="ru-UA"/>
        </a:p>
      </dgm:t>
    </dgm:pt>
    <dgm:pt modelId="{3F5394A0-3893-410B-8C13-3A61F22BDD4A}" type="pres">
      <dgm:prSet presAssocID="{734D32D3-E9EA-4575-ACB5-0BAADB0667CC}" presName="linear" presStyleCnt="0">
        <dgm:presLayoutVars>
          <dgm:animLvl val="lvl"/>
          <dgm:resizeHandles val="exact"/>
        </dgm:presLayoutVars>
      </dgm:prSet>
      <dgm:spPr/>
    </dgm:pt>
    <dgm:pt modelId="{A07D1F9F-6C8E-4E3A-A57B-1FE55AA268A2}" type="pres">
      <dgm:prSet presAssocID="{4429606E-E6E2-4948-BED8-C7A298156C5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7D0691A-2E37-4FB3-A1B9-3ACA6A909731}" type="pres">
      <dgm:prSet presAssocID="{4429606E-E6E2-4948-BED8-C7A298156C5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3569D02-71AD-4CBC-AA78-FF69359E97AC}" type="presOf" srcId="{4429606E-E6E2-4948-BED8-C7A298156C53}" destId="{A07D1F9F-6C8E-4E3A-A57B-1FE55AA268A2}" srcOrd="0" destOrd="0" presId="urn:microsoft.com/office/officeart/2005/8/layout/vList2"/>
    <dgm:cxn modelId="{7B0B6030-A917-447B-99ED-EEA366365F83}" type="presOf" srcId="{222AE1FC-0039-419A-936F-40FAF02E3F4C}" destId="{D7D0691A-2E37-4FB3-A1B9-3ACA6A909731}" srcOrd="0" destOrd="0" presId="urn:microsoft.com/office/officeart/2005/8/layout/vList2"/>
    <dgm:cxn modelId="{B8FF343F-7C15-4C8E-BAAE-D3FDD62C1E9C}" srcId="{4429606E-E6E2-4948-BED8-C7A298156C53}" destId="{222AE1FC-0039-419A-936F-40FAF02E3F4C}" srcOrd="0" destOrd="0" parTransId="{D60B2FD6-1E10-4607-A659-92AB8440EC84}" sibTransId="{270D925E-8A36-4BEC-8E62-C29B78B091FC}"/>
    <dgm:cxn modelId="{0EA7344E-4113-4784-BFF4-A8D37BE118FC}" type="presOf" srcId="{734D32D3-E9EA-4575-ACB5-0BAADB0667CC}" destId="{3F5394A0-3893-410B-8C13-3A61F22BDD4A}" srcOrd="0" destOrd="0" presId="urn:microsoft.com/office/officeart/2005/8/layout/vList2"/>
    <dgm:cxn modelId="{E30B6887-7663-4CC9-9F87-81F1DB386DA5}" type="presOf" srcId="{6E757509-B65F-4BA5-B5DA-5823589E16EE}" destId="{D7D0691A-2E37-4FB3-A1B9-3ACA6A909731}" srcOrd="0" destOrd="1" presId="urn:microsoft.com/office/officeart/2005/8/layout/vList2"/>
    <dgm:cxn modelId="{D1B54593-DE8B-4784-898C-CC6230E65CE2}" srcId="{4429606E-E6E2-4948-BED8-C7A298156C53}" destId="{6E757509-B65F-4BA5-B5DA-5823589E16EE}" srcOrd="1" destOrd="0" parTransId="{B581F6D9-90F6-47B4-870C-6506A0769C49}" sibTransId="{5CB6B2B6-7A1F-47E4-9263-225BADA873A9}"/>
    <dgm:cxn modelId="{F9B9E1BC-4F3C-4C2A-8C31-EF15354D4BA3}" srcId="{734D32D3-E9EA-4575-ACB5-0BAADB0667CC}" destId="{4429606E-E6E2-4948-BED8-C7A298156C53}" srcOrd="0" destOrd="0" parTransId="{89CB7ED4-7BCB-44EA-B518-8EDA56198A9B}" sibTransId="{CC982394-2EAB-4F66-862A-98CB8A0F52CC}"/>
    <dgm:cxn modelId="{8AF9D5C7-A737-4C35-A05D-BCC443F8E956}" srcId="{4429606E-E6E2-4948-BED8-C7A298156C53}" destId="{6F301516-8320-45CA-90E8-A33ABE12F2E1}" srcOrd="2" destOrd="0" parTransId="{7A5D3251-F81D-4B80-962A-B7BB3776E61D}" sibTransId="{77C1489C-F4FD-4200-8942-059CCF41B48A}"/>
    <dgm:cxn modelId="{E642ECE3-0D71-4107-8A6D-1AD462AEC509}" type="presOf" srcId="{6F301516-8320-45CA-90E8-A33ABE12F2E1}" destId="{D7D0691A-2E37-4FB3-A1B9-3ACA6A909731}" srcOrd="0" destOrd="2" presId="urn:microsoft.com/office/officeart/2005/8/layout/vList2"/>
    <dgm:cxn modelId="{03B9077F-D592-4F8C-AC4F-D9CCD83C1740}" type="presParOf" srcId="{3F5394A0-3893-410B-8C13-3A61F22BDD4A}" destId="{A07D1F9F-6C8E-4E3A-A57B-1FE55AA268A2}" srcOrd="0" destOrd="0" presId="urn:microsoft.com/office/officeart/2005/8/layout/vList2"/>
    <dgm:cxn modelId="{56340EDD-0B28-4C77-8D27-652EA3CA1344}" type="presParOf" srcId="{3F5394A0-3893-410B-8C13-3A61F22BDD4A}" destId="{D7D0691A-2E37-4FB3-A1B9-3ACA6A90973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6DF6C6-611B-47A1-8AC0-520BB1273C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UA"/>
        </a:p>
      </dgm:t>
    </dgm:pt>
    <dgm:pt modelId="{D39424A6-B83F-4AB9-AB89-EB6526E29EEF}">
      <dgm:prSet/>
      <dgm:spPr/>
      <dgm:t>
        <a:bodyPr/>
        <a:lstStyle/>
        <a:p>
          <a:r>
            <a:rPr lang="en-US" b="0" i="0" dirty="0"/>
            <a:t>The difference between rank 1 and rank 10 is only 0.235 points, suggesting that the leading countries operate at a similarly high level of life satisfaction.</a:t>
          </a:r>
          <a:endParaRPr lang="ru-UA" dirty="0"/>
        </a:p>
      </dgm:t>
    </dgm:pt>
    <dgm:pt modelId="{DED669D1-00D8-4626-8BEA-C5436360902D}" type="parTrans" cxnId="{3482E59F-FEA3-4E0F-B312-D27FCDC69781}">
      <dgm:prSet/>
      <dgm:spPr/>
      <dgm:t>
        <a:bodyPr/>
        <a:lstStyle/>
        <a:p>
          <a:endParaRPr lang="ru-UA"/>
        </a:p>
      </dgm:t>
    </dgm:pt>
    <dgm:pt modelId="{F38C061D-9853-4C49-AEB1-B682CEBAF0B6}" type="sibTrans" cxnId="{3482E59F-FEA3-4E0F-B312-D27FCDC69781}">
      <dgm:prSet/>
      <dgm:spPr/>
      <dgm:t>
        <a:bodyPr/>
        <a:lstStyle/>
        <a:p>
          <a:endParaRPr lang="ru-UA"/>
        </a:p>
      </dgm:t>
    </dgm:pt>
    <dgm:pt modelId="{2CB6FA3F-8FAD-4FE1-9C20-EC9206245B29}">
      <dgm:prSet/>
      <dgm:spPr/>
      <dgm:t>
        <a:bodyPr/>
        <a:lstStyle/>
        <a:p>
          <a:r>
            <a:rPr lang="en-US" b="0" i="0" dirty="0"/>
            <a:t>Most top-performing countries belong to Northern and Western Europe, indicating strong regional patterns.</a:t>
          </a:r>
          <a:endParaRPr lang="ru-UA" dirty="0"/>
        </a:p>
      </dgm:t>
    </dgm:pt>
    <dgm:pt modelId="{692F82F9-F88F-4DFD-A6CC-5372BD48EFE1}" type="parTrans" cxnId="{75B3422D-2A1D-4D96-BFF1-A573A80352B9}">
      <dgm:prSet/>
      <dgm:spPr/>
      <dgm:t>
        <a:bodyPr/>
        <a:lstStyle/>
        <a:p>
          <a:endParaRPr lang="ru-UA"/>
        </a:p>
      </dgm:t>
    </dgm:pt>
    <dgm:pt modelId="{D8A13A8B-4F69-4CB5-9385-110CC6E06099}" type="sibTrans" cxnId="{75B3422D-2A1D-4D96-BFF1-A573A80352B9}">
      <dgm:prSet/>
      <dgm:spPr/>
      <dgm:t>
        <a:bodyPr/>
        <a:lstStyle/>
        <a:p>
          <a:endParaRPr lang="ru-UA"/>
        </a:p>
      </dgm:t>
    </dgm:pt>
    <dgm:pt modelId="{7FD04A32-0113-41DC-A25A-FB78575243A4}">
      <dgm:prSet/>
      <dgm:spPr/>
      <dgm:t>
        <a:bodyPr/>
        <a:lstStyle/>
        <a:p>
          <a:r>
            <a:rPr lang="en-US" b="0" i="0"/>
            <a:t>Common characteristics among these countries typically include:</a:t>
          </a:r>
          <a:endParaRPr lang="ru-UA"/>
        </a:p>
      </dgm:t>
    </dgm:pt>
    <dgm:pt modelId="{B530D2CE-75CF-4384-A297-F660AA954F98}" type="parTrans" cxnId="{48D4156A-B778-4DBE-A71B-25B220D11FE5}">
      <dgm:prSet/>
      <dgm:spPr/>
      <dgm:t>
        <a:bodyPr/>
        <a:lstStyle/>
        <a:p>
          <a:endParaRPr lang="ru-UA"/>
        </a:p>
      </dgm:t>
    </dgm:pt>
    <dgm:pt modelId="{4F46FB08-10F8-4D1D-A7E3-46CAD0010033}" type="sibTrans" cxnId="{48D4156A-B778-4DBE-A71B-25B220D11FE5}">
      <dgm:prSet/>
      <dgm:spPr/>
      <dgm:t>
        <a:bodyPr/>
        <a:lstStyle/>
        <a:p>
          <a:endParaRPr lang="ru-UA"/>
        </a:p>
      </dgm:t>
    </dgm:pt>
    <dgm:pt modelId="{6FFDD7C2-C50F-4382-8E39-AB5BDFDF0CDA}">
      <dgm:prSet/>
      <dgm:spPr/>
      <dgm:t>
        <a:bodyPr/>
        <a:lstStyle/>
        <a:p>
          <a:r>
            <a:rPr lang="en-US" b="0" i="0"/>
            <a:t>High-quality healthcare</a:t>
          </a:r>
          <a:endParaRPr lang="ru-UA"/>
        </a:p>
      </dgm:t>
    </dgm:pt>
    <dgm:pt modelId="{F86CF73A-9F9D-4CE6-8581-DFD6F13FDCE4}" type="parTrans" cxnId="{763BEB71-B895-4AD7-8B93-A963CA011A55}">
      <dgm:prSet/>
      <dgm:spPr/>
      <dgm:t>
        <a:bodyPr/>
        <a:lstStyle/>
        <a:p>
          <a:endParaRPr lang="ru-UA"/>
        </a:p>
      </dgm:t>
    </dgm:pt>
    <dgm:pt modelId="{554A1194-81A0-4C96-A7C2-F1AFD613B853}" type="sibTrans" cxnId="{763BEB71-B895-4AD7-8B93-A963CA011A55}">
      <dgm:prSet/>
      <dgm:spPr/>
      <dgm:t>
        <a:bodyPr/>
        <a:lstStyle/>
        <a:p>
          <a:endParaRPr lang="ru-UA"/>
        </a:p>
      </dgm:t>
    </dgm:pt>
    <dgm:pt modelId="{6B6358E5-7003-4481-9E89-AF8987E1415F}">
      <dgm:prSet/>
      <dgm:spPr/>
      <dgm:t>
        <a:bodyPr/>
        <a:lstStyle/>
        <a:p>
          <a:r>
            <a:rPr lang="en-US" b="0" i="0"/>
            <a:t>Strong social support systems</a:t>
          </a:r>
          <a:endParaRPr lang="ru-UA"/>
        </a:p>
      </dgm:t>
    </dgm:pt>
    <dgm:pt modelId="{64696347-4CC4-4EB5-9315-5067574C738F}" type="parTrans" cxnId="{D9DCF7D6-65F0-414E-A480-0DC8696E1357}">
      <dgm:prSet/>
      <dgm:spPr/>
      <dgm:t>
        <a:bodyPr/>
        <a:lstStyle/>
        <a:p>
          <a:endParaRPr lang="ru-UA"/>
        </a:p>
      </dgm:t>
    </dgm:pt>
    <dgm:pt modelId="{0EB06AE2-CA9E-4D77-89DB-BA5885F95111}" type="sibTrans" cxnId="{D9DCF7D6-65F0-414E-A480-0DC8696E1357}">
      <dgm:prSet/>
      <dgm:spPr/>
      <dgm:t>
        <a:bodyPr/>
        <a:lstStyle/>
        <a:p>
          <a:endParaRPr lang="ru-UA"/>
        </a:p>
      </dgm:t>
    </dgm:pt>
    <dgm:pt modelId="{51E14414-589F-4971-81BE-1970E9C84E75}">
      <dgm:prSet/>
      <dgm:spPr/>
      <dgm:t>
        <a:bodyPr/>
        <a:lstStyle/>
        <a:p>
          <a:r>
            <a:rPr lang="en-US" b="0" i="0"/>
            <a:t>Economic stability</a:t>
          </a:r>
          <a:endParaRPr lang="ru-UA"/>
        </a:p>
      </dgm:t>
    </dgm:pt>
    <dgm:pt modelId="{4DBD0144-6893-4111-8A1D-2DF52466CB9A}" type="parTrans" cxnId="{22306D09-AD6A-4D96-B95B-9CC678F3056B}">
      <dgm:prSet/>
      <dgm:spPr/>
      <dgm:t>
        <a:bodyPr/>
        <a:lstStyle/>
        <a:p>
          <a:endParaRPr lang="ru-UA"/>
        </a:p>
      </dgm:t>
    </dgm:pt>
    <dgm:pt modelId="{D4948B4B-E0CE-421C-B3C3-B850207B1023}" type="sibTrans" cxnId="{22306D09-AD6A-4D96-B95B-9CC678F3056B}">
      <dgm:prSet/>
      <dgm:spPr/>
      <dgm:t>
        <a:bodyPr/>
        <a:lstStyle/>
        <a:p>
          <a:endParaRPr lang="ru-UA"/>
        </a:p>
      </dgm:t>
    </dgm:pt>
    <dgm:pt modelId="{E2952C06-3369-4F0E-B231-2C718FF6FE36}">
      <dgm:prSet/>
      <dgm:spPr/>
      <dgm:t>
        <a:bodyPr/>
        <a:lstStyle/>
        <a:p>
          <a:r>
            <a:rPr lang="en-US" b="0" i="0"/>
            <a:t>High levels of trust and freedom</a:t>
          </a:r>
          <a:endParaRPr lang="ru-UA"/>
        </a:p>
      </dgm:t>
    </dgm:pt>
    <dgm:pt modelId="{0775CA13-4E7F-4BBC-BECC-D691AD74BE97}" type="parTrans" cxnId="{AC56E897-5F75-4A93-97D7-2F069A7E972F}">
      <dgm:prSet/>
      <dgm:spPr/>
      <dgm:t>
        <a:bodyPr/>
        <a:lstStyle/>
        <a:p>
          <a:endParaRPr lang="ru-UA"/>
        </a:p>
      </dgm:t>
    </dgm:pt>
    <dgm:pt modelId="{EF70E954-608D-45D0-A409-DB669742842B}" type="sibTrans" cxnId="{AC56E897-5F75-4A93-97D7-2F069A7E972F}">
      <dgm:prSet/>
      <dgm:spPr/>
      <dgm:t>
        <a:bodyPr/>
        <a:lstStyle/>
        <a:p>
          <a:endParaRPr lang="ru-UA"/>
        </a:p>
      </dgm:t>
    </dgm:pt>
    <dgm:pt modelId="{AEF68507-85CE-4FEA-834A-20632E085B45}" type="pres">
      <dgm:prSet presAssocID="{286DF6C6-611B-47A1-8AC0-520BB1273CC0}" presName="linear" presStyleCnt="0">
        <dgm:presLayoutVars>
          <dgm:animLvl val="lvl"/>
          <dgm:resizeHandles val="exact"/>
        </dgm:presLayoutVars>
      </dgm:prSet>
      <dgm:spPr/>
    </dgm:pt>
    <dgm:pt modelId="{F8BA929A-45D5-48CC-B92C-9B9C97846B92}" type="pres">
      <dgm:prSet presAssocID="{D39424A6-B83F-4AB9-AB89-EB6526E29E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3EE4B00-C638-47AA-90E6-71342F90A1CA}" type="pres">
      <dgm:prSet presAssocID="{F38C061D-9853-4C49-AEB1-B682CEBAF0B6}" presName="spacer" presStyleCnt="0"/>
      <dgm:spPr/>
    </dgm:pt>
    <dgm:pt modelId="{75678DDB-EC23-4577-99CE-CEFA8B46C71B}" type="pres">
      <dgm:prSet presAssocID="{2CB6FA3F-8FAD-4FE1-9C20-EC9206245B2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6FE41D-281B-4C1A-8BB5-62FE880AD629}" type="pres">
      <dgm:prSet presAssocID="{D8A13A8B-4F69-4CB5-9385-110CC6E06099}" presName="spacer" presStyleCnt="0"/>
      <dgm:spPr/>
    </dgm:pt>
    <dgm:pt modelId="{AB626BFB-7908-41EA-BF7B-F38C7037673D}" type="pres">
      <dgm:prSet presAssocID="{7FD04A32-0113-41DC-A25A-FB78575243A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0A098DE-7D5E-441B-8D2E-C8A4505B6D4F}" type="pres">
      <dgm:prSet presAssocID="{7FD04A32-0113-41DC-A25A-FB78575243A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3F81E04-3580-4A13-AF76-9C69B0F3FB75}" type="presOf" srcId="{E2952C06-3369-4F0E-B231-2C718FF6FE36}" destId="{C0A098DE-7D5E-441B-8D2E-C8A4505B6D4F}" srcOrd="0" destOrd="3" presId="urn:microsoft.com/office/officeart/2005/8/layout/vList2"/>
    <dgm:cxn modelId="{22306D09-AD6A-4D96-B95B-9CC678F3056B}" srcId="{7FD04A32-0113-41DC-A25A-FB78575243A4}" destId="{51E14414-589F-4971-81BE-1970E9C84E75}" srcOrd="2" destOrd="0" parTransId="{4DBD0144-6893-4111-8A1D-2DF52466CB9A}" sibTransId="{D4948B4B-E0CE-421C-B3C3-B850207B1023}"/>
    <dgm:cxn modelId="{512F0614-46A1-4D4B-A86F-15F008E45988}" type="presOf" srcId="{6B6358E5-7003-4481-9E89-AF8987E1415F}" destId="{C0A098DE-7D5E-441B-8D2E-C8A4505B6D4F}" srcOrd="0" destOrd="1" presId="urn:microsoft.com/office/officeart/2005/8/layout/vList2"/>
    <dgm:cxn modelId="{42C9C616-0759-45AF-A80A-2929243598C2}" type="presOf" srcId="{2CB6FA3F-8FAD-4FE1-9C20-EC9206245B29}" destId="{75678DDB-EC23-4577-99CE-CEFA8B46C71B}" srcOrd="0" destOrd="0" presId="urn:microsoft.com/office/officeart/2005/8/layout/vList2"/>
    <dgm:cxn modelId="{75B3422D-2A1D-4D96-BFF1-A573A80352B9}" srcId="{286DF6C6-611B-47A1-8AC0-520BB1273CC0}" destId="{2CB6FA3F-8FAD-4FE1-9C20-EC9206245B29}" srcOrd="1" destOrd="0" parTransId="{692F82F9-F88F-4DFD-A6CC-5372BD48EFE1}" sibTransId="{D8A13A8B-4F69-4CB5-9385-110CC6E06099}"/>
    <dgm:cxn modelId="{48D4156A-B778-4DBE-A71B-25B220D11FE5}" srcId="{286DF6C6-611B-47A1-8AC0-520BB1273CC0}" destId="{7FD04A32-0113-41DC-A25A-FB78575243A4}" srcOrd="2" destOrd="0" parTransId="{B530D2CE-75CF-4384-A297-F660AA954F98}" sibTransId="{4F46FB08-10F8-4D1D-A7E3-46CAD0010033}"/>
    <dgm:cxn modelId="{763BEB71-B895-4AD7-8B93-A963CA011A55}" srcId="{7FD04A32-0113-41DC-A25A-FB78575243A4}" destId="{6FFDD7C2-C50F-4382-8E39-AB5BDFDF0CDA}" srcOrd="0" destOrd="0" parTransId="{F86CF73A-9F9D-4CE6-8581-DFD6F13FDCE4}" sibTransId="{554A1194-81A0-4C96-A7C2-F1AFD613B853}"/>
    <dgm:cxn modelId="{02B7A575-1677-4337-B62F-AAA32E5A9DC7}" type="presOf" srcId="{D39424A6-B83F-4AB9-AB89-EB6526E29EEF}" destId="{F8BA929A-45D5-48CC-B92C-9B9C97846B92}" srcOrd="0" destOrd="0" presId="urn:microsoft.com/office/officeart/2005/8/layout/vList2"/>
    <dgm:cxn modelId="{AC56E897-5F75-4A93-97D7-2F069A7E972F}" srcId="{7FD04A32-0113-41DC-A25A-FB78575243A4}" destId="{E2952C06-3369-4F0E-B231-2C718FF6FE36}" srcOrd="3" destOrd="0" parTransId="{0775CA13-4E7F-4BBC-BECC-D691AD74BE97}" sibTransId="{EF70E954-608D-45D0-A409-DB669742842B}"/>
    <dgm:cxn modelId="{3482E59F-FEA3-4E0F-B312-D27FCDC69781}" srcId="{286DF6C6-611B-47A1-8AC0-520BB1273CC0}" destId="{D39424A6-B83F-4AB9-AB89-EB6526E29EEF}" srcOrd="0" destOrd="0" parTransId="{DED669D1-00D8-4626-8BEA-C5436360902D}" sibTransId="{F38C061D-9853-4C49-AEB1-B682CEBAF0B6}"/>
    <dgm:cxn modelId="{D9DCF7D6-65F0-414E-A480-0DC8696E1357}" srcId="{7FD04A32-0113-41DC-A25A-FB78575243A4}" destId="{6B6358E5-7003-4481-9E89-AF8987E1415F}" srcOrd="1" destOrd="0" parTransId="{64696347-4CC4-4EB5-9315-5067574C738F}" sibTransId="{0EB06AE2-CA9E-4D77-89DB-BA5885F95111}"/>
    <dgm:cxn modelId="{99F38CE2-9E2B-4646-8590-43C1DCCD30E1}" type="presOf" srcId="{6FFDD7C2-C50F-4382-8E39-AB5BDFDF0CDA}" destId="{C0A098DE-7D5E-441B-8D2E-C8A4505B6D4F}" srcOrd="0" destOrd="0" presId="urn:microsoft.com/office/officeart/2005/8/layout/vList2"/>
    <dgm:cxn modelId="{CCA298E6-7D4E-405D-A949-5E21E349F060}" type="presOf" srcId="{286DF6C6-611B-47A1-8AC0-520BB1273CC0}" destId="{AEF68507-85CE-4FEA-834A-20632E085B45}" srcOrd="0" destOrd="0" presId="urn:microsoft.com/office/officeart/2005/8/layout/vList2"/>
    <dgm:cxn modelId="{879E5AF2-0AFB-4AED-B18C-F97E6B0B9062}" type="presOf" srcId="{51E14414-589F-4971-81BE-1970E9C84E75}" destId="{C0A098DE-7D5E-441B-8D2E-C8A4505B6D4F}" srcOrd="0" destOrd="2" presId="urn:microsoft.com/office/officeart/2005/8/layout/vList2"/>
    <dgm:cxn modelId="{C318EAF6-DAC3-4FB4-BCD0-B31EA83BBAD3}" type="presOf" srcId="{7FD04A32-0113-41DC-A25A-FB78575243A4}" destId="{AB626BFB-7908-41EA-BF7B-F38C7037673D}" srcOrd="0" destOrd="0" presId="urn:microsoft.com/office/officeart/2005/8/layout/vList2"/>
    <dgm:cxn modelId="{C4BBE63E-3069-4623-AB56-F0FB32A6C09E}" type="presParOf" srcId="{AEF68507-85CE-4FEA-834A-20632E085B45}" destId="{F8BA929A-45D5-48CC-B92C-9B9C97846B92}" srcOrd="0" destOrd="0" presId="urn:microsoft.com/office/officeart/2005/8/layout/vList2"/>
    <dgm:cxn modelId="{7E0337CB-3EED-4D56-8841-3F3D3C3CB6F0}" type="presParOf" srcId="{AEF68507-85CE-4FEA-834A-20632E085B45}" destId="{F3EE4B00-C638-47AA-90E6-71342F90A1CA}" srcOrd="1" destOrd="0" presId="urn:microsoft.com/office/officeart/2005/8/layout/vList2"/>
    <dgm:cxn modelId="{BB6D3E14-5317-4E43-A746-31E0BD164EC1}" type="presParOf" srcId="{AEF68507-85CE-4FEA-834A-20632E085B45}" destId="{75678DDB-EC23-4577-99CE-CEFA8B46C71B}" srcOrd="2" destOrd="0" presId="urn:microsoft.com/office/officeart/2005/8/layout/vList2"/>
    <dgm:cxn modelId="{035F9714-42F4-49BF-9B21-90111A3B3749}" type="presParOf" srcId="{AEF68507-85CE-4FEA-834A-20632E085B45}" destId="{D16FE41D-281B-4C1A-8BB5-62FE880AD629}" srcOrd="3" destOrd="0" presId="urn:microsoft.com/office/officeart/2005/8/layout/vList2"/>
    <dgm:cxn modelId="{6C9B221B-D2F1-4EBD-BE62-53D9776EB9D2}" type="presParOf" srcId="{AEF68507-85CE-4FEA-834A-20632E085B45}" destId="{AB626BFB-7908-41EA-BF7B-F38C7037673D}" srcOrd="4" destOrd="0" presId="urn:microsoft.com/office/officeart/2005/8/layout/vList2"/>
    <dgm:cxn modelId="{E941CCEB-0662-4944-B9CC-81D7423E44EC}" type="presParOf" srcId="{AEF68507-85CE-4FEA-834A-20632E085B45}" destId="{C0A098DE-7D5E-441B-8D2E-C8A4505B6D4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7CFC6A-1A81-43EF-998D-CA49B0E521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UA"/>
        </a:p>
      </dgm:t>
    </dgm:pt>
    <dgm:pt modelId="{BE32A892-3C03-4832-A2AE-9AFEB803119C}">
      <dgm:prSet/>
      <dgm:spPr/>
      <dgm:t>
        <a:bodyPr/>
        <a:lstStyle/>
        <a:p>
          <a:r>
            <a:rPr lang="en-US" b="0" i="0" dirty="0"/>
            <a:t>The chart suggests a moderate to strong positive correlation between GDP per capita and happiness.</a:t>
          </a:r>
          <a:endParaRPr lang="ru-UA" dirty="0"/>
        </a:p>
      </dgm:t>
    </dgm:pt>
    <dgm:pt modelId="{8A3687A9-BA0F-4BAB-8E79-D355B9F9B43B}" type="parTrans" cxnId="{6B1DD236-5BD0-4DE1-88C1-2352DED292A4}">
      <dgm:prSet/>
      <dgm:spPr/>
      <dgm:t>
        <a:bodyPr/>
        <a:lstStyle/>
        <a:p>
          <a:endParaRPr lang="ru-UA"/>
        </a:p>
      </dgm:t>
    </dgm:pt>
    <dgm:pt modelId="{AD2D9511-1774-4CD3-94CA-D2C0A6D750C8}" type="sibTrans" cxnId="{6B1DD236-5BD0-4DE1-88C1-2352DED292A4}">
      <dgm:prSet/>
      <dgm:spPr/>
      <dgm:t>
        <a:bodyPr/>
        <a:lstStyle/>
        <a:p>
          <a:endParaRPr lang="ru-UA"/>
        </a:p>
      </dgm:t>
    </dgm:pt>
    <dgm:pt modelId="{ABEABDD8-F600-4DD2-88D5-846E1E0C950F}">
      <dgm:prSet/>
      <dgm:spPr/>
      <dgm:t>
        <a:bodyPr/>
        <a:lstStyle/>
        <a:p>
          <a:r>
            <a:rPr lang="en-US" b="0" i="0"/>
            <a:t>However, the relationship is not perfectly linear — after a certain income level, increases in GDP result in smaller gains in happiness (possible diminishing returns effect).</a:t>
          </a:r>
          <a:endParaRPr lang="ru-UA"/>
        </a:p>
      </dgm:t>
    </dgm:pt>
    <dgm:pt modelId="{CA4E0FE4-795E-4AF5-8C18-5A686D65DA44}" type="parTrans" cxnId="{6FFA8121-BE57-486E-B3B0-F9DABE9D4DFA}">
      <dgm:prSet/>
      <dgm:spPr/>
      <dgm:t>
        <a:bodyPr/>
        <a:lstStyle/>
        <a:p>
          <a:endParaRPr lang="ru-UA"/>
        </a:p>
      </dgm:t>
    </dgm:pt>
    <dgm:pt modelId="{8F7FBA54-A33F-40B8-B3D3-819A338A5DE0}" type="sibTrans" cxnId="{6FFA8121-BE57-486E-B3B0-F9DABE9D4DFA}">
      <dgm:prSet/>
      <dgm:spPr/>
      <dgm:t>
        <a:bodyPr/>
        <a:lstStyle/>
        <a:p>
          <a:endParaRPr lang="ru-UA"/>
        </a:p>
      </dgm:t>
    </dgm:pt>
    <dgm:pt modelId="{D96E2248-FF8A-490C-8E21-2F1A5B2FC9A1}">
      <dgm:prSet/>
      <dgm:spPr/>
      <dgm:t>
        <a:bodyPr/>
        <a:lstStyle/>
        <a:p>
          <a:r>
            <a:rPr lang="en-US" b="0" i="0"/>
            <a:t>Regional clustering indicates that structural and institutional factors influence both income and life satisfaction.</a:t>
          </a:r>
          <a:endParaRPr lang="ru-UA"/>
        </a:p>
      </dgm:t>
    </dgm:pt>
    <dgm:pt modelId="{CEBA1122-3DEF-462C-99EE-21F59B5E478B}" type="parTrans" cxnId="{9AA82D35-E4BF-4153-A94A-E07FB18F0A2F}">
      <dgm:prSet/>
      <dgm:spPr/>
      <dgm:t>
        <a:bodyPr/>
        <a:lstStyle/>
        <a:p>
          <a:endParaRPr lang="ru-UA"/>
        </a:p>
      </dgm:t>
    </dgm:pt>
    <dgm:pt modelId="{763C356D-CA3D-4256-8BFD-19E39147AFC3}" type="sibTrans" cxnId="{9AA82D35-E4BF-4153-A94A-E07FB18F0A2F}">
      <dgm:prSet/>
      <dgm:spPr/>
      <dgm:t>
        <a:bodyPr/>
        <a:lstStyle/>
        <a:p>
          <a:endParaRPr lang="ru-UA"/>
        </a:p>
      </dgm:t>
    </dgm:pt>
    <dgm:pt modelId="{3CFCC05A-8288-4338-8275-FC522D683C73}">
      <dgm:prSet/>
      <dgm:spPr/>
      <dgm:t>
        <a:bodyPr/>
        <a:lstStyle/>
        <a:p>
          <a:r>
            <a:rPr lang="en-US" b="1" i="0"/>
            <a:t>Business Insight</a:t>
          </a:r>
          <a:endParaRPr lang="ru-UA"/>
        </a:p>
      </dgm:t>
    </dgm:pt>
    <dgm:pt modelId="{F3D89D6A-DDB6-45C0-B886-7A4FB2CCFB9A}" type="parTrans" cxnId="{A75253F0-CF13-4E25-BD0D-8A4406DEB148}">
      <dgm:prSet/>
      <dgm:spPr/>
      <dgm:t>
        <a:bodyPr/>
        <a:lstStyle/>
        <a:p>
          <a:endParaRPr lang="ru-UA"/>
        </a:p>
      </dgm:t>
    </dgm:pt>
    <dgm:pt modelId="{A6AF158F-49F4-4E04-85F8-B9865DF1BB5B}" type="sibTrans" cxnId="{A75253F0-CF13-4E25-BD0D-8A4406DEB148}">
      <dgm:prSet/>
      <dgm:spPr/>
      <dgm:t>
        <a:bodyPr/>
        <a:lstStyle/>
        <a:p>
          <a:endParaRPr lang="ru-UA"/>
        </a:p>
      </dgm:t>
    </dgm:pt>
    <dgm:pt modelId="{D10E7362-738C-48D0-B0DB-32F83B7E7728}">
      <dgm:prSet/>
      <dgm:spPr/>
      <dgm:t>
        <a:bodyPr/>
        <a:lstStyle/>
        <a:p>
          <a:r>
            <a:rPr lang="en-US" b="0" i="0"/>
            <a:t>Economic growth contributes significantly to national well-being, but beyond a certain threshold, </a:t>
          </a:r>
          <a:r>
            <a:rPr lang="en-US" b="1" i="0"/>
            <a:t>institutional quality, healthcare, freedom, and social trust become stronger differentiators of happiness</a:t>
          </a:r>
          <a:r>
            <a:rPr lang="en-US" b="0" i="0"/>
            <a:t> than income alone.</a:t>
          </a:r>
          <a:endParaRPr lang="ru-UA"/>
        </a:p>
      </dgm:t>
    </dgm:pt>
    <dgm:pt modelId="{5B5073FE-CC85-43DF-984B-622E7838640D}" type="parTrans" cxnId="{338A9605-114B-4306-899D-442EF3BA686D}">
      <dgm:prSet/>
      <dgm:spPr/>
      <dgm:t>
        <a:bodyPr/>
        <a:lstStyle/>
        <a:p>
          <a:endParaRPr lang="ru-UA"/>
        </a:p>
      </dgm:t>
    </dgm:pt>
    <dgm:pt modelId="{1BC4117B-EE52-4E88-8C9E-EF90F3032D3D}" type="sibTrans" cxnId="{338A9605-114B-4306-899D-442EF3BA686D}">
      <dgm:prSet/>
      <dgm:spPr/>
      <dgm:t>
        <a:bodyPr/>
        <a:lstStyle/>
        <a:p>
          <a:endParaRPr lang="ru-UA"/>
        </a:p>
      </dgm:t>
    </dgm:pt>
    <dgm:pt modelId="{DFC79291-B184-43CF-9D14-C85F527BB8BA}" type="pres">
      <dgm:prSet presAssocID="{BD7CFC6A-1A81-43EF-998D-CA49B0E521F9}" presName="linear" presStyleCnt="0">
        <dgm:presLayoutVars>
          <dgm:animLvl val="lvl"/>
          <dgm:resizeHandles val="exact"/>
        </dgm:presLayoutVars>
      </dgm:prSet>
      <dgm:spPr/>
    </dgm:pt>
    <dgm:pt modelId="{E675991A-B600-403D-84D7-A35F30F215EE}" type="pres">
      <dgm:prSet presAssocID="{BE32A892-3C03-4832-A2AE-9AFEB80311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ADE077-D833-4FC4-B2D8-2C09FF3B2745}" type="pres">
      <dgm:prSet presAssocID="{AD2D9511-1774-4CD3-94CA-D2C0A6D750C8}" presName="spacer" presStyleCnt="0"/>
      <dgm:spPr/>
    </dgm:pt>
    <dgm:pt modelId="{C18A637E-78B6-4BC9-8245-E10D0C575DE9}" type="pres">
      <dgm:prSet presAssocID="{ABEABDD8-F600-4DD2-88D5-846E1E0C95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311028-EBF3-43D5-B866-DCDDF0C809AF}" type="pres">
      <dgm:prSet presAssocID="{8F7FBA54-A33F-40B8-B3D3-819A338A5DE0}" presName="spacer" presStyleCnt="0"/>
      <dgm:spPr/>
    </dgm:pt>
    <dgm:pt modelId="{D7A5F933-1303-4886-AC49-A9A47E862FC8}" type="pres">
      <dgm:prSet presAssocID="{D96E2248-FF8A-490C-8E21-2F1A5B2FC9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E6C32BC-753C-47A3-8E68-494FB2A15748}" type="pres">
      <dgm:prSet presAssocID="{763C356D-CA3D-4256-8BFD-19E39147AFC3}" presName="spacer" presStyleCnt="0"/>
      <dgm:spPr/>
    </dgm:pt>
    <dgm:pt modelId="{8CBF3052-C721-4010-956A-FD26EEEA170D}" type="pres">
      <dgm:prSet presAssocID="{3CFCC05A-8288-4338-8275-FC522D683C7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1E5803C-1595-4AFA-91F2-527886DB9927}" type="pres">
      <dgm:prSet presAssocID="{3CFCC05A-8288-4338-8275-FC522D683C7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38A9605-114B-4306-899D-442EF3BA686D}" srcId="{3CFCC05A-8288-4338-8275-FC522D683C73}" destId="{D10E7362-738C-48D0-B0DB-32F83B7E7728}" srcOrd="0" destOrd="0" parTransId="{5B5073FE-CC85-43DF-984B-622E7838640D}" sibTransId="{1BC4117B-EE52-4E88-8C9E-EF90F3032D3D}"/>
    <dgm:cxn modelId="{6FFA8121-BE57-486E-B3B0-F9DABE9D4DFA}" srcId="{BD7CFC6A-1A81-43EF-998D-CA49B0E521F9}" destId="{ABEABDD8-F600-4DD2-88D5-846E1E0C950F}" srcOrd="1" destOrd="0" parTransId="{CA4E0FE4-795E-4AF5-8C18-5A686D65DA44}" sibTransId="{8F7FBA54-A33F-40B8-B3D3-819A338A5DE0}"/>
    <dgm:cxn modelId="{9AA82D35-E4BF-4153-A94A-E07FB18F0A2F}" srcId="{BD7CFC6A-1A81-43EF-998D-CA49B0E521F9}" destId="{D96E2248-FF8A-490C-8E21-2F1A5B2FC9A1}" srcOrd="2" destOrd="0" parTransId="{CEBA1122-3DEF-462C-99EE-21F59B5E478B}" sibTransId="{763C356D-CA3D-4256-8BFD-19E39147AFC3}"/>
    <dgm:cxn modelId="{6B1DD236-5BD0-4DE1-88C1-2352DED292A4}" srcId="{BD7CFC6A-1A81-43EF-998D-CA49B0E521F9}" destId="{BE32A892-3C03-4832-A2AE-9AFEB803119C}" srcOrd="0" destOrd="0" parTransId="{8A3687A9-BA0F-4BAB-8E79-D355B9F9B43B}" sibTransId="{AD2D9511-1774-4CD3-94CA-D2C0A6D750C8}"/>
    <dgm:cxn modelId="{E02D2841-2595-40B3-824B-646169510ED9}" type="presOf" srcId="{D10E7362-738C-48D0-B0DB-32F83B7E7728}" destId="{21E5803C-1595-4AFA-91F2-527886DB9927}" srcOrd="0" destOrd="0" presId="urn:microsoft.com/office/officeart/2005/8/layout/vList2"/>
    <dgm:cxn modelId="{80123162-6081-4873-9515-7E695003F300}" type="presOf" srcId="{3CFCC05A-8288-4338-8275-FC522D683C73}" destId="{8CBF3052-C721-4010-956A-FD26EEEA170D}" srcOrd="0" destOrd="0" presId="urn:microsoft.com/office/officeart/2005/8/layout/vList2"/>
    <dgm:cxn modelId="{E4091048-B17A-4D82-BB61-94019D723D14}" type="presOf" srcId="{BD7CFC6A-1A81-43EF-998D-CA49B0E521F9}" destId="{DFC79291-B184-43CF-9D14-C85F527BB8BA}" srcOrd="0" destOrd="0" presId="urn:microsoft.com/office/officeart/2005/8/layout/vList2"/>
    <dgm:cxn modelId="{092E2076-6522-4E9C-9E6E-5C10F88198BE}" type="presOf" srcId="{ABEABDD8-F600-4DD2-88D5-846E1E0C950F}" destId="{C18A637E-78B6-4BC9-8245-E10D0C575DE9}" srcOrd="0" destOrd="0" presId="urn:microsoft.com/office/officeart/2005/8/layout/vList2"/>
    <dgm:cxn modelId="{9FBF3AC7-55E9-465E-936C-4F7004CF1D3A}" type="presOf" srcId="{BE32A892-3C03-4832-A2AE-9AFEB803119C}" destId="{E675991A-B600-403D-84D7-A35F30F215EE}" srcOrd="0" destOrd="0" presId="urn:microsoft.com/office/officeart/2005/8/layout/vList2"/>
    <dgm:cxn modelId="{A75253F0-CF13-4E25-BD0D-8A4406DEB148}" srcId="{BD7CFC6A-1A81-43EF-998D-CA49B0E521F9}" destId="{3CFCC05A-8288-4338-8275-FC522D683C73}" srcOrd="3" destOrd="0" parTransId="{F3D89D6A-DDB6-45C0-B886-7A4FB2CCFB9A}" sibTransId="{A6AF158F-49F4-4E04-85F8-B9865DF1BB5B}"/>
    <dgm:cxn modelId="{8D5BF7FE-1E09-4D52-9ADB-C26294B4688C}" type="presOf" srcId="{D96E2248-FF8A-490C-8E21-2F1A5B2FC9A1}" destId="{D7A5F933-1303-4886-AC49-A9A47E862FC8}" srcOrd="0" destOrd="0" presId="urn:microsoft.com/office/officeart/2005/8/layout/vList2"/>
    <dgm:cxn modelId="{9740F036-4C1E-4EBB-87F6-D62C3CF7E694}" type="presParOf" srcId="{DFC79291-B184-43CF-9D14-C85F527BB8BA}" destId="{E675991A-B600-403D-84D7-A35F30F215EE}" srcOrd="0" destOrd="0" presId="urn:microsoft.com/office/officeart/2005/8/layout/vList2"/>
    <dgm:cxn modelId="{BAAB84CA-537F-495A-86C4-7392620D97DE}" type="presParOf" srcId="{DFC79291-B184-43CF-9D14-C85F527BB8BA}" destId="{7FADE077-D833-4FC4-B2D8-2C09FF3B2745}" srcOrd="1" destOrd="0" presId="urn:microsoft.com/office/officeart/2005/8/layout/vList2"/>
    <dgm:cxn modelId="{571FC735-BBE0-484B-9854-7DF2147E737E}" type="presParOf" srcId="{DFC79291-B184-43CF-9D14-C85F527BB8BA}" destId="{C18A637E-78B6-4BC9-8245-E10D0C575DE9}" srcOrd="2" destOrd="0" presId="urn:microsoft.com/office/officeart/2005/8/layout/vList2"/>
    <dgm:cxn modelId="{558703B5-9741-44BD-9AA8-535E99A66605}" type="presParOf" srcId="{DFC79291-B184-43CF-9D14-C85F527BB8BA}" destId="{CF311028-EBF3-43D5-B866-DCDDF0C809AF}" srcOrd="3" destOrd="0" presId="urn:microsoft.com/office/officeart/2005/8/layout/vList2"/>
    <dgm:cxn modelId="{04F68769-557D-4C9B-8F23-3E8C5797BD84}" type="presParOf" srcId="{DFC79291-B184-43CF-9D14-C85F527BB8BA}" destId="{D7A5F933-1303-4886-AC49-A9A47E862FC8}" srcOrd="4" destOrd="0" presId="urn:microsoft.com/office/officeart/2005/8/layout/vList2"/>
    <dgm:cxn modelId="{15F9A3F5-AEFB-4005-AD77-6FD9C4D20128}" type="presParOf" srcId="{DFC79291-B184-43CF-9D14-C85F527BB8BA}" destId="{1E6C32BC-753C-47A3-8E68-494FB2A15748}" srcOrd="5" destOrd="0" presId="urn:microsoft.com/office/officeart/2005/8/layout/vList2"/>
    <dgm:cxn modelId="{AC533D60-FF18-4CC6-AF77-192CB74C3D1C}" type="presParOf" srcId="{DFC79291-B184-43CF-9D14-C85F527BB8BA}" destId="{8CBF3052-C721-4010-956A-FD26EEEA170D}" srcOrd="6" destOrd="0" presId="urn:microsoft.com/office/officeart/2005/8/layout/vList2"/>
    <dgm:cxn modelId="{B1CDD7C1-4EC1-4723-9EF1-8C305AA0150A}" type="presParOf" srcId="{DFC79291-B184-43CF-9D14-C85F527BB8BA}" destId="{21E5803C-1595-4AFA-91F2-527886DB992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F09BA5-6481-4E74-A7EE-2E41AFCBD6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UA"/>
        </a:p>
      </dgm:t>
    </dgm:pt>
    <dgm:pt modelId="{87FEBABD-C75C-4107-A463-288B6F72D86F}">
      <dgm:prSet/>
      <dgm:spPr/>
      <dgm:t>
        <a:bodyPr/>
        <a:lstStyle/>
        <a:p>
          <a:r>
            <a:rPr lang="en-US" b="0" i="0"/>
            <a:t>This chart provides a regional breakdown comparing the number of families against recorded freedom levels. At first glance, there is a clear visual relationship: regions with a higher population of families generally report higher aggregate freedom scores.</a:t>
          </a:r>
          <a:endParaRPr lang="ru-UA"/>
        </a:p>
      </dgm:t>
    </dgm:pt>
    <dgm:pt modelId="{310D2BA8-4C9D-4182-86F5-FC169FF472E9}" type="parTrans" cxnId="{D550B40B-2A3F-4CBB-853D-97BBC86D1924}">
      <dgm:prSet/>
      <dgm:spPr/>
      <dgm:t>
        <a:bodyPr/>
        <a:lstStyle/>
        <a:p>
          <a:endParaRPr lang="ru-UA"/>
        </a:p>
      </dgm:t>
    </dgm:pt>
    <dgm:pt modelId="{82608E34-1584-408D-9EDB-B086CBE1DD13}" type="sibTrans" cxnId="{D550B40B-2A3F-4CBB-853D-97BBC86D1924}">
      <dgm:prSet/>
      <dgm:spPr/>
      <dgm:t>
        <a:bodyPr/>
        <a:lstStyle/>
        <a:p>
          <a:endParaRPr lang="ru-UA"/>
        </a:p>
      </dgm:t>
    </dgm:pt>
    <dgm:pt modelId="{DE0D72D4-AFF0-4A5D-826E-15A38F18A754}">
      <dgm:prSet/>
      <dgm:spPr/>
      <dgm:t>
        <a:bodyPr/>
        <a:lstStyle/>
        <a:p>
          <a:r>
            <a:rPr lang="en-US" b="0" i="0"/>
            <a:t>The chart suggests a </a:t>
          </a:r>
          <a:r>
            <a:rPr lang="en-US" b="1" i="0"/>
            <a:t>positive correlation</a:t>
          </a:r>
          <a:r>
            <a:rPr lang="en-US" b="0" i="0"/>
            <a:t>: as the demographic size (families) increases, the total freedom metric tends to rise. However, regions like </a:t>
          </a:r>
          <a:r>
            <a:rPr lang="en-US" b="1" i="0"/>
            <a:t>Western Europe</a:t>
          </a:r>
          <a:r>
            <a:rPr lang="en-US" b="0" i="0"/>
            <a:t> and </a:t>
          </a:r>
          <a:r>
            <a:rPr lang="en-US" b="1" i="0"/>
            <a:t>Sub-Saharan Africa</a:t>
          </a:r>
          <a:r>
            <a:rPr lang="en-US" b="0" i="0"/>
            <a:t> show a higher "Freedom-to-Family" ratio compared to </a:t>
          </a:r>
          <a:r>
            <a:rPr lang="en-US" b="1" i="0"/>
            <a:t>Central and Eastern Europe</a:t>
          </a:r>
          <a:r>
            <a:rPr lang="en-US" b="0" i="0"/>
            <a:t>, where the gap between the two bars is much wider.</a:t>
          </a:r>
          <a:endParaRPr lang="ru-UA"/>
        </a:p>
      </dgm:t>
    </dgm:pt>
    <dgm:pt modelId="{EF1A6B6D-AB23-4E02-AF59-C531BAEF1EB4}" type="parTrans" cxnId="{62F84EE5-CB43-4DDB-8A8E-AF40D10125A1}">
      <dgm:prSet/>
      <dgm:spPr/>
      <dgm:t>
        <a:bodyPr/>
        <a:lstStyle/>
        <a:p>
          <a:endParaRPr lang="ru-UA"/>
        </a:p>
      </dgm:t>
    </dgm:pt>
    <dgm:pt modelId="{E6A8DE4E-C35B-4C43-A956-7F59BEE96141}" type="sibTrans" cxnId="{62F84EE5-CB43-4DDB-8A8E-AF40D10125A1}">
      <dgm:prSet/>
      <dgm:spPr/>
      <dgm:t>
        <a:bodyPr/>
        <a:lstStyle/>
        <a:p>
          <a:endParaRPr lang="ru-UA"/>
        </a:p>
      </dgm:t>
    </dgm:pt>
    <dgm:pt modelId="{C3367535-835E-48C7-88A4-CDB00F725DC1}" type="pres">
      <dgm:prSet presAssocID="{5AF09BA5-6481-4E74-A7EE-2E41AFCBD601}" presName="linear" presStyleCnt="0">
        <dgm:presLayoutVars>
          <dgm:animLvl val="lvl"/>
          <dgm:resizeHandles val="exact"/>
        </dgm:presLayoutVars>
      </dgm:prSet>
      <dgm:spPr/>
    </dgm:pt>
    <dgm:pt modelId="{5304EA00-748D-42C3-8FB2-C507D88CCC6A}" type="pres">
      <dgm:prSet presAssocID="{87FEBABD-C75C-4107-A463-288B6F72D8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48D5267-F630-4E5B-92B7-E143660A0341}" type="pres">
      <dgm:prSet presAssocID="{82608E34-1584-408D-9EDB-B086CBE1DD13}" presName="spacer" presStyleCnt="0"/>
      <dgm:spPr/>
    </dgm:pt>
    <dgm:pt modelId="{583E860D-801F-48D5-A812-3DC31AD49CA3}" type="pres">
      <dgm:prSet presAssocID="{DE0D72D4-AFF0-4A5D-826E-15A38F18A75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550B40B-2A3F-4CBB-853D-97BBC86D1924}" srcId="{5AF09BA5-6481-4E74-A7EE-2E41AFCBD601}" destId="{87FEBABD-C75C-4107-A463-288B6F72D86F}" srcOrd="0" destOrd="0" parTransId="{310D2BA8-4C9D-4182-86F5-FC169FF472E9}" sibTransId="{82608E34-1584-408D-9EDB-B086CBE1DD13}"/>
    <dgm:cxn modelId="{7388A28D-6E1A-4129-A3A4-C544A2C8D4B1}" type="presOf" srcId="{87FEBABD-C75C-4107-A463-288B6F72D86F}" destId="{5304EA00-748D-42C3-8FB2-C507D88CCC6A}" srcOrd="0" destOrd="0" presId="urn:microsoft.com/office/officeart/2005/8/layout/vList2"/>
    <dgm:cxn modelId="{6EC704C6-07FC-4D35-84B1-5C5FAC8728F0}" type="presOf" srcId="{5AF09BA5-6481-4E74-A7EE-2E41AFCBD601}" destId="{C3367535-835E-48C7-88A4-CDB00F725DC1}" srcOrd="0" destOrd="0" presId="urn:microsoft.com/office/officeart/2005/8/layout/vList2"/>
    <dgm:cxn modelId="{62F84EE5-CB43-4DDB-8A8E-AF40D10125A1}" srcId="{5AF09BA5-6481-4E74-A7EE-2E41AFCBD601}" destId="{DE0D72D4-AFF0-4A5D-826E-15A38F18A754}" srcOrd="1" destOrd="0" parTransId="{EF1A6B6D-AB23-4E02-AF59-C531BAEF1EB4}" sibTransId="{E6A8DE4E-C35B-4C43-A956-7F59BEE96141}"/>
    <dgm:cxn modelId="{20C36AE6-401D-49DD-925A-EE2E07764830}" type="presOf" srcId="{DE0D72D4-AFF0-4A5D-826E-15A38F18A754}" destId="{583E860D-801F-48D5-A812-3DC31AD49CA3}" srcOrd="0" destOrd="0" presId="urn:microsoft.com/office/officeart/2005/8/layout/vList2"/>
    <dgm:cxn modelId="{9523D5BE-94E9-44BE-B344-15A124B20B2B}" type="presParOf" srcId="{C3367535-835E-48C7-88A4-CDB00F725DC1}" destId="{5304EA00-748D-42C3-8FB2-C507D88CCC6A}" srcOrd="0" destOrd="0" presId="urn:microsoft.com/office/officeart/2005/8/layout/vList2"/>
    <dgm:cxn modelId="{2825FEAF-9A61-41CC-BB85-D7CC21A99E4E}" type="presParOf" srcId="{C3367535-835E-48C7-88A4-CDB00F725DC1}" destId="{948D5267-F630-4E5B-92B7-E143660A0341}" srcOrd="1" destOrd="0" presId="urn:microsoft.com/office/officeart/2005/8/layout/vList2"/>
    <dgm:cxn modelId="{BD220B8D-90AB-4070-8DE3-D4D65C791694}" type="presParOf" srcId="{C3367535-835E-48C7-88A4-CDB00F725DC1}" destId="{583E860D-801F-48D5-A812-3DC31AD49CA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7734AD-D0CA-4025-946D-32228178B2F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UA"/>
        </a:p>
      </dgm:t>
    </dgm:pt>
    <dgm:pt modelId="{7EAAA9AA-5697-4599-B88E-753CAC51F76D}">
      <dgm:prSet/>
      <dgm:spPr/>
      <dgm:t>
        <a:bodyPr/>
        <a:lstStyle/>
        <a:p>
          <a:r>
            <a:rPr lang="ru-UA" b="0" i="0"/>
            <a:t>Weak to moderate positive correlation</a:t>
          </a:r>
          <a:endParaRPr lang="ru-UA"/>
        </a:p>
      </dgm:t>
    </dgm:pt>
    <dgm:pt modelId="{A4A25BDF-CD6B-4509-BEAF-301BC4BB6B15}" type="parTrans" cxnId="{863D3AA5-E32D-47BE-BF6A-B5B1B4BF3613}">
      <dgm:prSet/>
      <dgm:spPr/>
      <dgm:t>
        <a:bodyPr/>
        <a:lstStyle/>
        <a:p>
          <a:endParaRPr lang="ru-UA"/>
        </a:p>
      </dgm:t>
    </dgm:pt>
    <dgm:pt modelId="{8B3AD489-9B28-4C65-8074-A4120F2AA60B}" type="sibTrans" cxnId="{863D3AA5-E32D-47BE-BF6A-B5B1B4BF3613}">
      <dgm:prSet/>
      <dgm:spPr/>
      <dgm:t>
        <a:bodyPr/>
        <a:lstStyle/>
        <a:p>
          <a:endParaRPr lang="ru-UA"/>
        </a:p>
      </dgm:t>
    </dgm:pt>
    <dgm:pt modelId="{129325F5-7EEA-43F9-93CD-3CFAFB6B3821}">
      <dgm:prSet/>
      <dgm:spPr/>
      <dgm:t>
        <a:bodyPr/>
        <a:lstStyle/>
        <a:p>
          <a:r>
            <a:rPr lang="en-US" b="0" i="0"/>
            <a:t>The analysis indicates a </a:t>
          </a:r>
          <a:r>
            <a:rPr lang="en-US" b="1" i="0"/>
            <a:t>weak to moderate positive correlation</a:t>
          </a:r>
          <a:r>
            <a:rPr lang="en-US" b="0" i="0"/>
            <a:t> between the examined variable and overall happiness levels. This suggests that while the factor contributes to life satisfaction, its impact is not dominant and varies across countries.</a:t>
          </a:r>
          <a:endParaRPr lang="ru-UA"/>
        </a:p>
      </dgm:t>
    </dgm:pt>
    <dgm:pt modelId="{6B443A03-5E24-4BCB-B2AC-F721B51B2EB1}" type="parTrans" cxnId="{9E93F617-4F8B-4D3B-8C31-DBC17FAD6295}">
      <dgm:prSet/>
      <dgm:spPr/>
      <dgm:t>
        <a:bodyPr/>
        <a:lstStyle/>
        <a:p>
          <a:endParaRPr lang="ru-UA"/>
        </a:p>
      </dgm:t>
    </dgm:pt>
    <dgm:pt modelId="{382427C2-D369-4617-91E2-8D9279F67A63}" type="sibTrans" cxnId="{9E93F617-4F8B-4D3B-8C31-DBC17FAD6295}">
      <dgm:prSet/>
      <dgm:spPr/>
      <dgm:t>
        <a:bodyPr/>
        <a:lstStyle/>
        <a:p>
          <a:endParaRPr lang="ru-UA"/>
        </a:p>
      </dgm:t>
    </dgm:pt>
    <dgm:pt modelId="{4276F766-42AB-48D7-983F-9E299556AED0}">
      <dgm:prSet/>
      <dgm:spPr/>
      <dgm:t>
        <a:bodyPr/>
        <a:lstStyle/>
        <a:p>
          <a:r>
            <a:rPr lang="en-US" b="0" i="0"/>
            <a:t>The findings suggest that while the factor contributes positively to happiness, its effect is conditional. It becomes more meaningful in stable, high-development contexts and operates alongside stronger macro-level determinants such as income and institutional quality.</a:t>
          </a:r>
          <a:endParaRPr lang="ru-UA"/>
        </a:p>
      </dgm:t>
    </dgm:pt>
    <dgm:pt modelId="{98140B7B-924D-4FBC-A708-1046AFDE9A5F}" type="parTrans" cxnId="{FEF86946-0537-411C-82A4-F63A9D9178F4}">
      <dgm:prSet/>
      <dgm:spPr/>
      <dgm:t>
        <a:bodyPr/>
        <a:lstStyle/>
        <a:p>
          <a:endParaRPr lang="ru-UA"/>
        </a:p>
      </dgm:t>
    </dgm:pt>
    <dgm:pt modelId="{FA5AF9D2-0BB9-47AF-BCD2-2D3A8E2E8BFD}" type="sibTrans" cxnId="{FEF86946-0537-411C-82A4-F63A9D9178F4}">
      <dgm:prSet/>
      <dgm:spPr/>
      <dgm:t>
        <a:bodyPr/>
        <a:lstStyle/>
        <a:p>
          <a:endParaRPr lang="ru-UA"/>
        </a:p>
      </dgm:t>
    </dgm:pt>
    <dgm:pt modelId="{2B382FA5-0538-422E-A121-66FE3C954D3C}" type="pres">
      <dgm:prSet presAssocID="{1A7734AD-D0CA-4025-946D-32228178B2F3}" presName="Name0" presStyleCnt="0">
        <dgm:presLayoutVars>
          <dgm:dir/>
          <dgm:animLvl val="lvl"/>
          <dgm:resizeHandles val="exact"/>
        </dgm:presLayoutVars>
      </dgm:prSet>
      <dgm:spPr/>
    </dgm:pt>
    <dgm:pt modelId="{32392D01-680D-4FCF-99D5-ED2F6DE8D442}" type="pres">
      <dgm:prSet presAssocID="{7EAAA9AA-5697-4599-B88E-753CAC51F76D}" presName="linNode" presStyleCnt="0"/>
      <dgm:spPr/>
    </dgm:pt>
    <dgm:pt modelId="{865939CA-B2B7-419A-A71A-9B739C5D98AE}" type="pres">
      <dgm:prSet presAssocID="{7EAAA9AA-5697-4599-B88E-753CAC51F76D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9F3E3A64-8966-4AC1-9C59-6DF7743B7357}" type="pres">
      <dgm:prSet presAssocID="{7EAAA9AA-5697-4599-B88E-753CAC51F76D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9E93F617-4F8B-4D3B-8C31-DBC17FAD6295}" srcId="{7EAAA9AA-5697-4599-B88E-753CAC51F76D}" destId="{129325F5-7EEA-43F9-93CD-3CFAFB6B3821}" srcOrd="0" destOrd="0" parTransId="{6B443A03-5E24-4BCB-B2AC-F721B51B2EB1}" sibTransId="{382427C2-D369-4617-91E2-8D9279F67A63}"/>
    <dgm:cxn modelId="{3F339333-1F3D-4543-952C-D4C240FF35E8}" type="presOf" srcId="{129325F5-7EEA-43F9-93CD-3CFAFB6B3821}" destId="{9F3E3A64-8966-4AC1-9C59-6DF7743B7357}" srcOrd="0" destOrd="0" presId="urn:microsoft.com/office/officeart/2005/8/layout/vList5"/>
    <dgm:cxn modelId="{FEF86946-0537-411C-82A4-F63A9D9178F4}" srcId="{7EAAA9AA-5697-4599-B88E-753CAC51F76D}" destId="{4276F766-42AB-48D7-983F-9E299556AED0}" srcOrd="1" destOrd="0" parTransId="{98140B7B-924D-4FBC-A708-1046AFDE9A5F}" sibTransId="{FA5AF9D2-0BB9-47AF-BCD2-2D3A8E2E8BFD}"/>
    <dgm:cxn modelId="{D55E988E-AF8E-458F-8261-4652F245C9F1}" type="presOf" srcId="{4276F766-42AB-48D7-983F-9E299556AED0}" destId="{9F3E3A64-8966-4AC1-9C59-6DF7743B7357}" srcOrd="0" destOrd="1" presId="urn:microsoft.com/office/officeart/2005/8/layout/vList5"/>
    <dgm:cxn modelId="{863D3AA5-E32D-47BE-BF6A-B5B1B4BF3613}" srcId="{1A7734AD-D0CA-4025-946D-32228178B2F3}" destId="{7EAAA9AA-5697-4599-B88E-753CAC51F76D}" srcOrd="0" destOrd="0" parTransId="{A4A25BDF-CD6B-4509-BEAF-301BC4BB6B15}" sibTransId="{8B3AD489-9B28-4C65-8074-A4120F2AA60B}"/>
    <dgm:cxn modelId="{140A4BBC-A66C-45F9-B40D-AD63C4CC6BC1}" type="presOf" srcId="{1A7734AD-D0CA-4025-946D-32228178B2F3}" destId="{2B382FA5-0538-422E-A121-66FE3C954D3C}" srcOrd="0" destOrd="0" presId="urn:microsoft.com/office/officeart/2005/8/layout/vList5"/>
    <dgm:cxn modelId="{4089DCD8-9443-4D8E-8714-FC2EFF031685}" type="presOf" srcId="{7EAAA9AA-5697-4599-B88E-753CAC51F76D}" destId="{865939CA-B2B7-419A-A71A-9B739C5D98AE}" srcOrd="0" destOrd="0" presId="urn:microsoft.com/office/officeart/2005/8/layout/vList5"/>
    <dgm:cxn modelId="{4CCED64B-5143-4380-8CA0-A05E1121567A}" type="presParOf" srcId="{2B382FA5-0538-422E-A121-66FE3C954D3C}" destId="{32392D01-680D-4FCF-99D5-ED2F6DE8D442}" srcOrd="0" destOrd="0" presId="urn:microsoft.com/office/officeart/2005/8/layout/vList5"/>
    <dgm:cxn modelId="{C7FB9752-ECA2-491B-8958-23E1C716DA0D}" type="presParOf" srcId="{32392D01-680D-4FCF-99D5-ED2F6DE8D442}" destId="{865939CA-B2B7-419A-A71A-9B739C5D98AE}" srcOrd="0" destOrd="0" presId="urn:microsoft.com/office/officeart/2005/8/layout/vList5"/>
    <dgm:cxn modelId="{7FDBE51F-917E-402D-BF20-D5461B695EA7}" type="presParOf" srcId="{32392D01-680D-4FCF-99D5-ED2F6DE8D442}" destId="{9F3E3A64-8966-4AC1-9C59-6DF7743B735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7D1F9F-6C8E-4E3A-A57B-1FE55AA268A2}">
      <dsp:nvSpPr>
        <dsp:cNvPr id="0" name=""/>
        <dsp:cNvSpPr/>
      </dsp:nvSpPr>
      <dsp:spPr>
        <a:xfrm>
          <a:off x="0" y="103340"/>
          <a:ext cx="7546827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UA" sz="3200" b="0" i="0" kern="1200"/>
            <a:t>Positive correlation between healthcare level and happiness</a:t>
          </a:r>
          <a:endParaRPr lang="ru-UA" sz="3200" kern="1200"/>
        </a:p>
      </dsp:txBody>
      <dsp:txXfrm>
        <a:off x="62141" y="165481"/>
        <a:ext cx="7422545" cy="1148678"/>
      </dsp:txXfrm>
    </dsp:sp>
    <dsp:sp modelId="{D7D0691A-2E37-4FB3-A1B9-3ACA6A909731}">
      <dsp:nvSpPr>
        <dsp:cNvPr id="0" name=""/>
        <dsp:cNvSpPr/>
      </dsp:nvSpPr>
      <dsp:spPr>
        <a:xfrm>
          <a:off x="0" y="1376300"/>
          <a:ext cx="7546827" cy="271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61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dirty="0"/>
            <a:t>Regions with stronger healthcare systems tend to demonstrate higher life satisfaction.</a:t>
          </a:r>
          <a:endParaRPr lang="ru-UA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dirty="0"/>
            <a:t>However, healthcare is </a:t>
          </a:r>
          <a:r>
            <a:rPr lang="en-US" sz="2500" b="1" i="0" kern="1200" dirty="0"/>
            <a:t>not the only determinant</a:t>
          </a:r>
          <a:r>
            <a:rPr lang="en-US" sz="2500" b="0" i="0" kern="1200" dirty="0"/>
            <a:t> — economic stability, freedom, trust, and social support also contribute significantly.</a:t>
          </a:r>
          <a:endParaRPr lang="ru-UA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UA" sz="2500" b="0" i="0" kern="1200" dirty="0"/>
            <a:t>Health </a:t>
          </a:r>
          <a:r>
            <a:rPr lang="ru-UA" sz="2500" b="0" i="0" kern="1200" dirty="0" err="1"/>
            <a:t>security</a:t>
          </a:r>
          <a:r>
            <a:rPr lang="ru-UA" sz="2500" b="0" i="0" kern="1200" dirty="0"/>
            <a:t> </a:t>
          </a:r>
          <a:r>
            <a:rPr lang="ru-UA" sz="2500" b="0" i="0" kern="1200" dirty="0" err="1"/>
            <a:t>supports</a:t>
          </a:r>
          <a:r>
            <a:rPr lang="ru-UA" sz="2500" b="0" i="0" kern="1200" dirty="0"/>
            <a:t> </a:t>
          </a:r>
          <a:r>
            <a:rPr lang="ru-UA" sz="2500" b="0" i="0" kern="1200" dirty="0" err="1"/>
            <a:t>life</a:t>
          </a:r>
          <a:r>
            <a:rPr lang="ru-UA" sz="2500" b="0" i="0" kern="1200" dirty="0"/>
            <a:t> </a:t>
          </a:r>
          <a:r>
            <a:rPr lang="ru-UA" sz="2500" b="0" i="0" kern="1200" dirty="0" err="1"/>
            <a:t>satisfaction</a:t>
          </a:r>
          <a:endParaRPr lang="ru-UA" sz="2500" kern="1200" dirty="0"/>
        </a:p>
      </dsp:txBody>
      <dsp:txXfrm>
        <a:off x="0" y="1376300"/>
        <a:ext cx="7546827" cy="27158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A929A-45D5-48CC-B92C-9B9C97846B92}">
      <dsp:nvSpPr>
        <dsp:cNvPr id="0" name=""/>
        <dsp:cNvSpPr/>
      </dsp:nvSpPr>
      <dsp:spPr>
        <a:xfrm>
          <a:off x="0" y="45200"/>
          <a:ext cx="7563265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The difference between rank 1 and rank 10 is only 0.235 points, suggesting that the leading countries operate at a similarly high level of life satisfaction.</a:t>
          </a:r>
          <a:endParaRPr lang="ru-UA" sz="1800" kern="1200" dirty="0"/>
        </a:p>
      </dsp:txBody>
      <dsp:txXfrm>
        <a:off x="49347" y="94547"/>
        <a:ext cx="7464571" cy="912186"/>
      </dsp:txXfrm>
    </dsp:sp>
    <dsp:sp modelId="{75678DDB-EC23-4577-99CE-CEFA8B46C71B}">
      <dsp:nvSpPr>
        <dsp:cNvPr id="0" name=""/>
        <dsp:cNvSpPr/>
      </dsp:nvSpPr>
      <dsp:spPr>
        <a:xfrm>
          <a:off x="0" y="1107920"/>
          <a:ext cx="7563265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Most top-performing countries belong to Northern and Western Europe, indicating strong regional patterns.</a:t>
          </a:r>
          <a:endParaRPr lang="ru-UA" sz="1800" kern="1200" dirty="0"/>
        </a:p>
      </dsp:txBody>
      <dsp:txXfrm>
        <a:off x="49347" y="1157267"/>
        <a:ext cx="7464571" cy="912186"/>
      </dsp:txXfrm>
    </dsp:sp>
    <dsp:sp modelId="{AB626BFB-7908-41EA-BF7B-F38C7037673D}">
      <dsp:nvSpPr>
        <dsp:cNvPr id="0" name=""/>
        <dsp:cNvSpPr/>
      </dsp:nvSpPr>
      <dsp:spPr>
        <a:xfrm>
          <a:off x="0" y="2170640"/>
          <a:ext cx="7563265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Common characteristics among these countries typically include:</a:t>
          </a:r>
          <a:endParaRPr lang="ru-UA" sz="1800" kern="1200"/>
        </a:p>
      </dsp:txBody>
      <dsp:txXfrm>
        <a:off x="49347" y="2219987"/>
        <a:ext cx="7464571" cy="912186"/>
      </dsp:txXfrm>
    </dsp:sp>
    <dsp:sp modelId="{C0A098DE-7D5E-441B-8D2E-C8A4505B6D4F}">
      <dsp:nvSpPr>
        <dsp:cNvPr id="0" name=""/>
        <dsp:cNvSpPr/>
      </dsp:nvSpPr>
      <dsp:spPr>
        <a:xfrm>
          <a:off x="0" y="3181520"/>
          <a:ext cx="7563265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13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High-quality healthcare</a:t>
          </a:r>
          <a:endParaRPr lang="ru-UA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Strong social support systems</a:t>
          </a:r>
          <a:endParaRPr lang="ru-UA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Economic stability</a:t>
          </a:r>
          <a:endParaRPr lang="ru-UA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High levels of trust and freedom</a:t>
          </a:r>
          <a:endParaRPr lang="ru-UA" sz="1400" kern="1200"/>
        </a:p>
      </dsp:txBody>
      <dsp:txXfrm>
        <a:off x="0" y="3181520"/>
        <a:ext cx="7563265" cy="968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5991A-B600-403D-84D7-A35F30F215EE}">
      <dsp:nvSpPr>
        <dsp:cNvPr id="0" name=""/>
        <dsp:cNvSpPr/>
      </dsp:nvSpPr>
      <dsp:spPr>
        <a:xfrm>
          <a:off x="0" y="83034"/>
          <a:ext cx="7572229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The chart suggests a moderate to strong positive correlation between GDP per capita and happiness.</a:t>
          </a:r>
          <a:endParaRPr lang="ru-UA" sz="1500" kern="1200" dirty="0"/>
        </a:p>
      </dsp:txBody>
      <dsp:txXfrm>
        <a:off x="40962" y="123996"/>
        <a:ext cx="7490305" cy="757185"/>
      </dsp:txXfrm>
    </dsp:sp>
    <dsp:sp modelId="{C18A637E-78B6-4BC9-8245-E10D0C575DE9}">
      <dsp:nvSpPr>
        <dsp:cNvPr id="0" name=""/>
        <dsp:cNvSpPr/>
      </dsp:nvSpPr>
      <dsp:spPr>
        <a:xfrm>
          <a:off x="0" y="965343"/>
          <a:ext cx="7572229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However, the relationship is not perfectly linear — after a certain income level, increases in GDP result in smaller gains in happiness (possible diminishing returns effect).</a:t>
          </a:r>
          <a:endParaRPr lang="ru-UA" sz="1500" kern="1200"/>
        </a:p>
      </dsp:txBody>
      <dsp:txXfrm>
        <a:off x="40962" y="1006305"/>
        <a:ext cx="7490305" cy="757185"/>
      </dsp:txXfrm>
    </dsp:sp>
    <dsp:sp modelId="{D7A5F933-1303-4886-AC49-A9A47E862FC8}">
      <dsp:nvSpPr>
        <dsp:cNvPr id="0" name=""/>
        <dsp:cNvSpPr/>
      </dsp:nvSpPr>
      <dsp:spPr>
        <a:xfrm>
          <a:off x="0" y="1847653"/>
          <a:ext cx="7572229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Regional clustering indicates that structural and institutional factors influence both income and life satisfaction.</a:t>
          </a:r>
          <a:endParaRPr lang="ru-UA" sz="1500" kern="1200"/>
        </a:p>
      </dsp:txBody>
      <dsp:txXfrm>
        <a:off x="40962" y="1888615"/>
        <a:ext cx="7490305" cy="757185"/>
      </dsp:txXfrm>
    </dsp:sp>
    <dsp:sp modelId="{8CBF3052-C721-4010-956A-FD26EEEA170D}">
      <dsp:nvSpPr>
        <dsp:cNvPr id="0" name=""/>
        <dsp:cNvSpPr/>
      </dsp:nvSpPr>
      <dsp:spPr>
        <a:xfrm>
          <a:off x="0" y="2729962"/>
          <a:ext cx="7572229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Business Insight</a:t>
          </a:r>
          <a:endParaRPr lang="ru-UA" sz="1500" kern="1200"/>
        </a:p>
      </dsp:txBody>
      <dsp:txXfrm>
        <a:off x="40962" y="2770924"/>
        <a:ext cx="7490305" cy="757185"/>
      </dsp:txXfrm>
    </dsp:sp>
    <dsp:sp modelId="{21E5803C-1595-4AFA-91F2-527886DB9927}">
      <dsp:nvSpPr>
        <dsp:cNvPr id="0" name=""/>
        <dsp:cNvSpPr/>
      </dsp:nvSpPr>
      <dsp:spPr>
        <a:xfrm>
          <a:off x="0" y="3569071"/>
          <a:ext cx="7572229" cy="54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418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0" i="0" kern="1200"/>
            <a:t>Economic growth contributes significantly to national well-being, but beyond a certain threshold, </a:t>
          </a:r>
          <a:r>
            <a:rPr lang="en-US" sz="1200" b="1" i="0" kern="1200"/>
            <a:t>institutional quality, healthcare, freedom, and social trust become stronger differentiators of happiness</a:t>
          </a:r>
          <a:r>
            <a:rPr lang="en-US" sz="1200" b="0" i="0" kern="1200"/>
            <a:t> than income alone.</a:t>
          </a:r>
          <a:endParaRPr lang="ru-UA" sz="1200" kern="1200"/>
        </a:p>
      </dsp:txBody>
      <dsp:txXfrm>
        <a:off x="0" y="3569071"/>
        <a:ext cx="7572229" cy="5433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4EA00-748D-42C3-8FB2-C507D88CCC6A}">
      <dsp:nvSpPr>
        <dsp:cNvPr id="0" name=""/>
        <dsp:cNvSpPr/>
      </dsp:nvSpPr>
      <dsp:spPr>
        <a:xfrm>
          <a:off x="0" y="221173"/>
          <a:ext cx="6711654" cy="1850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This chart provides a regional breakdown comparing the number of families against recorded freedom levels. At first glance, there is a clear visual relationship: regions with a higher population of families generally report higher aggregate freedom scores.</a:t>
          </a:r>
          <a:endParaRPr lang="ru-UA" sz="1800" kern="1200"/>
        </a:p>
      </dsp:txBody>
      <dsp:txXfrm>
        <a:off x="90341" y="311514"/>
        <a:ext cx="6530972" cy="1669965"/>
      </dsp:txXfrm>
    </dsp:sp>
    <dsp:sp modelId="{583E860D-801F-48D5-A812-3DC31AD49CA3}">
      <dsp:nvSpPr>
        <dsp:cNvPr id="0" name=""/>
        <dsp:cNvSpPr/>
      </dsp:nvSpPr>
      <dsp:spPr>
        <a:xfrm>
          <a:off x="0" y="2123660"/>
          <a:ext cx="6711654" cy="1850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The chart suggests a </a:t>
          </a:r>
          <a:r>
            <a:rPr lang="en-US" sz="1800" b="1" i="0" kern="1200"/>
            <a:t>positive correlation</a:t>
          </a:r>
          <a:r>
            <a:rPr lang="en-US" sz="1800" b="0" i="0" kern="1200"/>
            <a:t>: as the demographic size (families) increases, the total freedom metric tends to rise. However, regions like </a:t>
          </a:r>
          <a:r>
            <a:rPr lang="en-US" sz="1800" b="1" i="0" kern="1200"/>
            <a:t>Western Europe</a:t>
          </a:r>
          <a:r>
            <a:rPr lang="en-US" sz="1800" b="0" i="0" kern="1200"/>
            <a:t> and </a:t>
          </a:r>
          <a:r>
            <a:rPr lang="en-US" sz="1800" b="1" i="0" kern="1200"/>
            <a:t>Sub-Saharan Africa</a:t>
          </a:r>
          <a:r>
            <a:rPr lang="en-US" sz="1800" b="0" i="0" kern="1200"/>
            <a:t> show a higher "Freedom-to-Family" ratio compared to </a:t>
          </a:r>
          <a:r>
            <a:rPr lang="en-US" sz="1800" b="1" i="0" kern="1200"/>
            <a:t>Central and Eastern Europe</a:t>
          </a:r>
          <a:r>
            <a:rPr lang="en-US" sz="1800" b="0" i="0" kern="1200"/>
            <a:t>, where the gap between the two bars is much wider.</a:t>
          </a:r>
          <a:endParaRPr lang="ru-UA" sz="1800" kern="1200"/>
        </a:p>
      </dsp:txBody>
      <dsp:txXfrm>
        <a:off x="90341" y="2214001"/>
        <a:ext cx="6530972" cy="16699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E3A64-8966-4AC1-9C59-6DF7743B7357}">
      <dsp:nvSpPr>
        <dsp:cNvPr id="0" name=""/>
        <dsp:cNvSpPr/>
      </dsp:nvSpPr>
      <dsp:spPr>
        <a:xfrm rot="5400000">
          <a:off x="3446540" y="-313898"/>
          <a:ext cx="3356384" cy="48232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The analysis indicates a </a:t>
          </a:r>
          <a:r>
            <a:rPr lang="en-US" sz="1600" b="1" i="0" kern="1200"/>
            <a:t>weak to moderate positive correlation</a:t>
          </a:r>
          <a:r>
            <a:rPr lang="en-US" sz="1600" b="0" i="0" kern="1200"/>
            <a:t> between the examined variable and overall happiness levels. This suggests that while the factor contributes to life satisfaction, its impact is not dominant and varies across countries.</a:t>
          </a:r>
          <a:endParaRPr lang="ru-UA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The findings suggest that while the factor contributes positively to happiness, its effect is conditional. It becomes more meaningful in stable, high-development contexts and operates alongside stronger macro-level determinants such as income and institutional quality.</a:t>
          </a:r>
          <a:endParaRPr lang="ru-UA" sz="1600" kern="1200"/>
        </a:p>
      </dsp:txBody>
      <dsp:txXfrm rot="-5400000">
        <a:off x="2713094" y="583393"/>
        <a:ext cx="4659433" cy="3028694"/>
      </dsp:txXfrm>
    </dsp:sp>
    <dsp:sp modelId="{865939CA-B2B7-419A-A71A-9B739C5D98AE}">
      <dsp:nvSpPr>
        <dsp:cNvPr id="0" name=""/>
        <dsp:cNvSpPr/>
      </dsp:nvSpPr>
      <dsp:spPr>
        <a:xfrm>
          <a:off x="0" y="0"/>
          <a:ext cx="2713093" cy="41954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UA" sz="3300" b="0" i="0" kern="1200"/>
            <a:t>Weak to moderate positive correlation</a:t>
          </a:r>
          <a:endParaRPr lang="ru-UA" sz="3300" kern="1200"/>
        </a:p>
      </dsp:txBody>
      <dsp:txXfrm>
        <a:off x="132442" y="132442"/>
        <a:ext cx="2448209" cy="3930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5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2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6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7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0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1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5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8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761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06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1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08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38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1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15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60399"/>
            <a:ext cx="7772400" cy="3436471"/>
          </a:xfrm>
        </p:spPr>
        <p:txBody>
          <a:bodyPr/>
          <a:lstStyle/>
          <a:p>
            <a:r>
              <a:rPr dirty="0"/>
              <a:t>Happiness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271682"/>
            <a:ext cx="6835588" cy="1752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IBM Plex Mono Medium" panose="020B0609050203000203" pitchFamily="49" charset="0"/>
              </a:rPr>
              <a:t>Yevgeniy </a:t>
            </a:r>
            <a:r>
              <a:rPr lang="en-US" b="1" dirty="0" err="1">
                <a:solidFill>
                  <a:schemeClr val="tx1"/>
                </a:solidFill>
                <a:latin typeface="IBM Plex Mono Medium" panose="020B0609050203000203" pitchFamily="49" charset="0"/>
              </a:rPr>
              <a:t>Mihdal</a:t>
            </a:r>
            <a:endParaRPr lang="en-US" b="1" dirty="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r>
              <a:rPr dirty="0"/>
              <a:t>Date: 28.02.2026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Identify key factors influencing Happiness Score</a:t>
            </a:r>
          </a:p>
          <a:p>
            <a:pPr marL="457200" lvl="1" indent="0">
              <a:buNone/>
            </a:pPr>
            <a:r>
              <a:rPr dirty="0"/>
              <a:t>• Compare regions by happiness levels</a:t>
            </a:r>
          </a:p>
          <a:p>
            <a:pPr marL="457200" lvl="1" indent="0">
              <a:buNone/>
            </a:pPr>
            <a:r>
              <a:rPr dirty="0"/>
              <a:t>• Analyze impact of GDP, freedom, healthcare, generosity</a:t>
            </a:r>
          </a:p>
          <a:p>
            <a:pPr marL="457200" lvl="1" indent="0">
              <a:buNone/>
            </a:pPr>
            <a:r>
              <a:rPr dirty="0"/>
              <a:t>• Highlight Top 10 happiest countries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065FF-94B0-449E-B2C4-9FCB7030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28" y="452718"/>
            <a:ext cx="6912561" cy="1268506"/>
          </a:xfrm>
        </p:spPr>
        <p:txBody>
          <a:bodyPr/>
          <a:lstStyle/>
          <a:p>
            <a:r>
              <a:rPr lang="en-US" dirty="0"/>
              <a:t>Global Overview of Happiness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72C094-418B-43B2-8903-8CF966666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1164812"/>
            <a:ext cx="7691718" cy="515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0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246" y="452718"/>
            <a:ext cx="6840843" cy="1400530"/>
          </a:xfrm>
        </p:spPr>
        <p:txBody>
          <a:bodyPr/>
          <a:lstStyle/>
          <a:p>
            <a:r>
              <a:rPr dirty="0"/>
              <a:t>Global Overview of Happiness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Highest scores: Western Europe, Australia &amp; New Zealand, North America</a:t>
            </a:r>
          </a:p>
          <a:p>
            <a:pPr marL="457200" lvl="1" indent="0">
              <a:buNone/>
            </a:pPr>
            <a:r>
              <a:rPr dirty="0"/>
              <a:t>• Lowest scores: Sub-Saharan Africa, Southern Asia</a:t>
            </a:r>
          </a:p>
          <a:p>
            <a:pPr marL="457200" lvl="1" indent="0">
              <a:buNone/>
            </a:pPr>
            <a:r>
              <a:rPr dirty="0"/>
              <a:t>• Significant regional inequality observed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C9686-BB1B-4E70-A8ED-620ABE554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28" y="618566"/>
            <a:ext cx="6912561" cy="1234682"/>
          </a:xfrm>
        </p:spPr>
        <p:txBody>
          <a:bodyPr/>
          <a:lstStyle/>
          <a:p>
            <a:r>
              <a:rPr lang="en-US" dirty="0"/>
              <a:t>GDP per capita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F2B332-FA5B-46D7-84C0-1236C9BE8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15" y="1425388"/>
            <a:ext cx="7659169" cy="481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3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8" y="977153"/>
            <a:ext cx="7144871" cy="876094"/>
          </a:xfrm>
        </p:spPr>
        <p:txBody>
          <a:bodyPr/>
          <a:lstStyle/>
          <a:p>
            <a:r>
              <a:rPr dirty="0"/>
              <a:t>Impact of GDP per Capita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420471"/>
            <a:ext cx="6711654" cy="382793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 Strong positive correlation with Happiness Score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Higher GDP → Higher average happiness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Diminishing returns effect at very high </a:t>
            </a:r>
            <a:r>
              <a:rPr lang="en-US" dirty="0"/>
              <a:t>	 		</a:t>
            </a:r>
            <a:r>
              <a:rPr dirty="0"/>
              <a:t>income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61D45-E79A-4DD9-87F1-1D5F1005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318" y="699246"/>
            <a:ext cx="6858772" cy="828085"/>
          </a:xfrm>
        </p:spPr>
        <p:txBody>
          <a:bodyPr/>
          <a:lstStyle/>
          <a:p>
            <a:r>
              <a:rPr lang="en-US" dirty="0"/>
              <a:t>Happiness and Freedom</a:t>
            </a:r>
            <a:endParaRPr lang="ru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91BBE0C-8E62-4720-9681-2F1BEA62E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8" y="1527331"/>
            <a:ext cx="7781364" cy="478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82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700" y="950259"/>
            <a:ext cx="6712390" cy="902988"/>
          </a:xfrm>
        </p:spPr>
        <p:txBody>
          <a:bodyPr/>
          <a:lstStyle/>
          <a:p>
            <a:r>
              <a:rPr dirty="0"/>
              <a:t>Impact of Freedom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411506"/>
            <a:ext cx="6711654" cy="3083859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 </a:t>
            </a:r>
            <a:r>
              <a:rPr sz="2400" dirty="0"/>
              <a:t>Strong positive relationship across regions</a:t>
            </a:r>
          </a:p>
          <a:p>
            <a:pPr marL="457200" lvl="1" indent="0">
              <a:buNone/>
            </a:pPr>
            <a:r>
              <a:rPr sz="2400" dirty="0"/>
              <a:t>• Regions with high freedom show consistently high happiness</a:t>
            </a:r>
          </a:p>
          <a:p>
            <a:pPr marL="457200" lvl="1" indent="0">
              <a:buNone/>
            </a:pPr>
            <a:r>
              <a:rPr sz="2400" dirty="0"/>
              <a:t>• Freedom is a critical non-economic factor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1A4A15-2B8F-48F5-B5C5-060E3333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815788"/>
            <a:ext cx="7655859" cy="1037460"/>
          </a:xfrm>
        </p:spPr>
        <p:txBody>
          <a:bodyPr/>
          <a:lstStyle/>
          <a:p>
            <a:r>
              <a:rPr lang="en-US" dirty="0"/>
              <a:t>Happiness and Healthcare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387DE4-FDEB-48D6-88D6-715F7960B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53248"/>
            <a:ext cx="8059271" cy="443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50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424" y="452718"/>
            <a:ext cx="7144870" cy="1400530"/>
          </a:xfrm>
        </p:spPr>
        <p:txBody>
          <a:bodyPr>
            <a:normAutofit/>
          </a:bodyPr>
          <a:lstStyle/>
          <a:p>
            <a:r>
              <a:rPr dirty="0"/>
              <a:t>Impact of Healthcare &amp; Life Expectancy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4AFB4BA-B56E-4378-BBD7-C6D83A6153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216071"/>
              </p:ext>
            </p:extLst>
          </p:nvPr>
        </p:nvGraphicFramePr>
        <p:xfrm>
          <a:off x="871032" y="2052925"/>
          <a:ext cx="7546827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4FAB42-8B43-40F5-9EC0-791B76A5F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3" y="1147482"/>
            <a:ext cx="7799295" cy="478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77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700" y="690282"/>
            <a:ext cx="6890912" cy="1162966"/>
          </a:xfrm>
        </p:spPr>
        <p:txBody>
          <a:bodyPr>
            <a:normAutofit fontScale="90000"/>
          </a:bodyPr>
          <a:lstStyle/>
          <a:p>
            <a:r>
              <a:rPr dirty="0"/>
              <a:t>Top 10 Countries by Happiness Score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28660003-1DFE-4030-B66E-8AEE7777EA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6618275"/>
              </p:ext>
            </p:extLst>
          </p:nvPr>
        </p:nvGraphicFramePr>
        <p:xfrm>
          <a:off x="827700" y="2052925"/>
          <a:ext cx="7563265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E18868-1742-4EAA-84D5-E07D47ABA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5" y="1156447"/>
            <a:ext cx="7673790" cy="469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8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AE43B-14BE-4FEB-9E01-8B76BC87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699" y="887506"/>
            <a:ext cx="6798355" cy="1075765"/>
          </a:xfrm>
        </p:spPr>
        <p:txBody>
          <a:bodyPr>
            <a:noAutofit/>
          </a:bodyPr>
          <a:lstStyle/>
          <a:p>
            <a:r>
              <a:rPr lang="en-US" sz="3600" dirty="0"/>
              <a:t>Happiness Score vs GDP per Capita by Region</a:t>
            </a:r>
            <a:endParaRPr lang="ru-UA" sz="36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D33EA5E-F07A-4975-8E6B-964031E8F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909710"/>
              </p:ext>
            </p:extLst>
          </p:nvPr>
        </p:nvGraphicFramePr>
        <p:xfrm>
          <a:off x="827699" y="2052925"/>
          <a:ext cx="7572229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5051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5C8165-2D6C-48DE-B5A3-B59D2D6E2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38517"/>
            <a:ext cx="7709647" cy="499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65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EAF0B-2127-4C84-BD5E-B4120C745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00" y="1066800"/>
            <a:ext cx="6712390" cy="786448"/>
          </a:xfrm>
        </p:spPr>
        <p:txBody>
          <a:bodyPr>
            <a:normAutofit/>
          </a:bodyPr>
          <a:lstStyle/>
          <a:p>
            <a:r>
              <a:rPr lang="en-US" sz="4000" dirty="0"/>
              <a:t>Family by Freedom</a:t>
            </a:r>
            <a:endParaRPr lang="ru-UA" sz="40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8D4ABE7-5BA4-4FD4-B944-021BFEB822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9078627"/>
              </p:ext>
            </p:extLst>
          </p:nvPr>
        </p:nvGraphicFramePr>
        <p:xfrm>
          <a:off x="827700" y="2052925"/>
          <a:ext cx="6711654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7997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8413CC-A6C5-4E92-8971-8CC1099C0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18" y="1156447"/>
            <a:ext cx="7620000" cy="491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52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034" y="609594"/>
            <a:ext cx="7135907" cy="1243654"/>
          </a:xfrm>
        </p:spPr>
        <p:txBody>
          <a:bodyPr/>
          <a:lstStyle/>
          <a:p>
            <a:r>
              <a:rPr dirty="0"/>
              <a:t>Generosity &amp; Life Satisfaction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EC7E065-C3E1-41CD-8147-5C253ACDDA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946140"/>
              </p:ext>
            </p:extLst>
          </p:nvPr>
        </p:nvGraphicFramePr>
        <p:xfrm>
          <a:off x="827699" y="2052925"/>
          <a:ext cx="7536372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01271"/>
            <a:ext cx="6625690" cy="762000"/>
          </a:xfrm>
        </p:spPr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832846"/>
            <a:ext cx="6711654" cy="3415559"/>
          </a:xfrm>
        </p:spPr>
        <p:txBody>
          <a:bodyPr/>
          <a:lstStyle/>
          <a:p>
            <a:r>
              <a:rPr dirty="0"/>
              <a:t>GDP is a primary driver of happiness</a:t>
            </a:r>
            <a:endParaRPr lang="ru-RU" dirty="0"/>
          </a:p>
          <a:p>
            <a:r>
              <a:rPr dirty="0"/>
              <a:t>Freedom significantly increases life satisfaction</a:t>
            </a:r>
            <a:endParaRPr lang="ru-RU" dirty="0"/>
          </a:p>
          <a:p>
            <a:r>
              <a:rPr dirty="0"/>
              <a:t>Healthcare is a foundational factor</a:t>
            </a:r>
            <a:endParaRPr lang="ru-RU" dirty="0"/>
          </a:p>
          <a:p>
            <a:r>
              <a:rPr dirty="0"/>
              <a:t>Social support enhances overall well-being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700" y="1129553"/>
            <a:ext cx="6712390" cy="1479176"/>
          </a:xfrm>
        </p:spPr>
        <p:txBody>
          <a:bodyPr/>
          <a:lstStyle/>
          <a:p>
            <a:r>
              <a:rPr dirty="0"/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3021106"/>
            <a:ext cx="7572229" cy="322730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Invest in economic development</a:t>
            </a:r>
          </a:p>
          <a:p>
            <a:pPr marL="457200" lvl="1" indent="0">
              <a:buNone/>
            </a:pPr>
            <a:r>
              <a:rPr dirty="0"/>
              <a:t>• Strengthen healthcare systems</a:t>
            </a:r>
          </a:p>
          <a:p>
            <a:pPr marL="457200" lvl="1" indent="0">
              <a:buNone/>
            </a:pPr>
            <a:r>
              <a:rPr dirty="0"/>
              <a:t>• Promote civil liberties and transparency</a:t>
            </a:r>
          </a:p>
          <a:p>
            <a:pPr marL="457200" lvl="1" indent="0">
              <a:buNone/>
            </a:pPr>
            <a:r>
              <a:rPr dirty="0"/>
              <a:t>• Support social and family structures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145</TotalTime>
  <Words>606</Words>
  <Application>Microsoft Office PowerPoint</Application>
  <PresentationFormat>Экран (4:3)</PresentationFormat>
  <Paragraphs>60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IBM Plex Mono Medium</vt:lpstr>
      <vt:lpstr>Wingdings 3</vt:lpstr>
      <vt:lpstr>Ион</vt:lpstr>
      <vt:lpstr>Happiness Dashboard Analysis</vt:lpstr>
      <vt:lpstr>Analysis Objectives</vt:lpstr>
      <vt:lpstr>Global Overview of Happiness</vt:lpstr>
      <vt:lpstr>Global Overview of Happiness</vt:lpstr>
      <vt:lpstr>GDP per capita</vt:lpstr>
      <vt:lpstr>Impact of GDP per Capita</vt:lpstr>
      <vt:lpstr>Happiness and Freedom</vt:lpstr>
      <vt:lpstr>Impact of Freedom</vt:lpstr>
      <vt:lpstr>Happiness and Healthcare</vt:lpstr>
      <vt:lpstr>Impact of Healthcare &amp; Life Expectancy</vt:lpstr>
      <vt:lpstr>Презентация PowerPoint</vt:lpstr>
      <vt:lpstr>Top 10 Countries by Happiness Score</vt:lpstr>
      <vt:lpstr>Презентация PowerPoint</vt:lpstr>
      <vt:lpstr>Happiness Score vs GDP per Capita by Region</vt:lpstr>
      <vt:lpstr>Презентация PowerPoint</vt:lpstr>
      <vt:lpstr>Family by Freedom</vt:lpstr>
      <vt:lpstr>Презентация PowerPoint</vt:lpstr>
      <vt:lpstr>Generosity &amp; Life Satisfaction</vt:lpstr>
      <vt:lpstr>Key Insights</vt:lpstr>
      <vt:lpstr>Strategic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Happiness Dashboard Analysis</dc:title>
  <dc:subject/>
  <dc:creator/>
  <cp:keywords/>
  <dc:description>generated using python-pptx</dc:description>
  <cp:lastModifiedBy>Юлия Мигдаль</cp:lastModifiedBy>
  <cp:revision>26</cp:revision>
  <dcterms:created xsi:type="dcterms:W3CDTF">2013-01-27T09:14:16Z</dcterms:created>
  <dcterms:modified xsi:type="dcterms:W3CDTF">2026-03-17T19:31:27Z</dcterms:modified>
  <cp:category/>
</cp:coreProperties>
</file>